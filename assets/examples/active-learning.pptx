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a202aa3489454b" /><Relationship Type="http://schemas.openxmlformats.org/officeDocument/2006/relationships/extended-properties" Target="/docProps/app.xml" Id="R2612a935dea84e00" /><Relationship Type="http://schemas.openxmlformats.org/officeDocument/2006/relationships/officeDocument" Target="/ppt/presentation.xml" Id="R674706096e7a49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68906c759f4c8e"/>
  </p:sldMasterIdLst>
  <p:notesMasterIdLst>
    <p:notesMasterId xmlns:r="http://schemas.openxmlformats.org/officeDocument/2006/relationships" r:id="R8dd0566a44da4b2f"/>
  </p:notesMasterIdLst>
  <p:sldIdLst>
    <p:sldId xmlns:r="http://schemas.openxmlformats.org/officeDocument/2006/relationships" id="256" r:id="R0ea7b8b3858a4eea"/>
  </p:sldIdLst>
  <p:sldSz cx="6552000" cy="3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6dd855db3421a" /><Relationship Type="http://schemas.openxmlformats.org/officeDocument/2006/relationships/slideMaster" Target="/ppt/slideMasters/slideMaster1.xml" Id="Rce68906c759f4c8e" /><Relationship Type="http://schemas.openxmlformats.org/officeDocument/2006/relationships/notesMaster" Target="/ppt/notesMasters/notesMaster1.xml" Id="R8dd0566a44da4b2f" /><Relationship Type="http://schemas.openxmlformats.org/officeDocument/2006/relationships/presProps" Target="/ppt/presProps.xml" Id="R5ac5042f64cf466c" /><Relationship Type="http://schemas.openxmlformats.org/officeDocument/2006/relationships/tableStyles" Target="/ppt/tableStyles.xml" Id="Rb00cc59801064d02" /><Relationship Type="http://schemas.openxmlformats.org/officeDocument/2006/relationships/slide" Target="/ppt/slides/slide1.xml" Id="R0ea7b8b3858a4e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ab40195656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a95533ebb44b1" /><Relationship Type="http://schemas.openxmlformats.org/officeDocument/2006/relationships/notesMaster" Target="/ppt/notesMasters/notesMaster1.xml" Id="Rf5b39c8c895041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examples/active-learning.md. Synthetic mechanism description for cross-domain execution testing. No empirical performance claims or measured plots. All geometry and labels are native.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15517b2f34fa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1939795cd4e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f1e10dbe64a1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244f7da3247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a5c5881ae47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728a3ce0447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BC5A09-796A-4A94-A44D-6DBA43C0C0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5200" y="1169600"/>
            <a:ext cx="5241600" cy="44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657AB0-E32D-4159-AC9B-02E652805D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82800" y="1702800"/>
            <a:ext cx="4586400" cy="3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B0032BF-B0F5-4700-8DC5-2BB7B5DDBC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5200" y="1290000"/>
            <a:ext cx="5241600" cy="5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FEF468-E187-4377-8591-65B5C67713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550" y="240800"/>
            <a:ext cx="5814900" cy="3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27BC8A-3970-4AC5-A2BE-06C99BA11B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550" y="860000"/>
            <a:ext cx="5814900" cy="19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40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78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16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536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91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928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66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204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AB23D8C-AEE7-4E5B-BFAF-23C6352521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550" y="240800"/>
            <a:ext cx="5814900" cy="3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9C3303-69E5-491F-9E31-843137FBBA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550" y="860000"/>
            <a:ext cx="2702700" cy="19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40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78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16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536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91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928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66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204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CFC3E4-2F3C-4636-89FE-2C9AAB6D57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0750" y="860000"/>
            <a:ext cx="2702700" cy="19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40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78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16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536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91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928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66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204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94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AAD88D-D484-49EC-8A85-85DB9A6A1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8550" y="240800"/>
            <a:ext cx="5814900" cy="3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9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F78705-049F-457E-974A-36FDD33083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8550" y="860000"/>
            <a:ext cx="2702700" cy="192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3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40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378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16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6536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7912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9288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0664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204000" indent="-103200" algn="l">
              <a:lnSpc>
                <a:spcPct val="110000"/>
              </a:lnSpc>
              <a:spcBef>
                <a:spcPts val="0"/>
              </a:spcBef>
              <a:spcAft>
                <a:spcPts val="542"/>
              </a:spcAft>
              <a:buChar char="•"/>
              <a:defRPr sz="10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db3c0b20414fbf" /><Relationship Type="http://schemas.openxmlformats.org/officeDocument/2006/relationships/slideLayout" Target="/ppt/slideLayouts/slideLayout1.xml" Id="R0824f092be554b41" /><Relationship Type="http://schemas.openxmlformats.org/officeDocument/2006/relationships/slideLayout" Target="/ppt/slideLayouts/slideLayout2.xml" Id="R8ee8a78bafd549ae" /><Relationship Type="http://schemas.openxmlformats.org/officeDocument/2006/relationships/slideLayout" Target="/ppt/slideLayouts/slideLayout3.xml" Id="Ra4f093a12c824a4b" /><Relationship Type="http://schemas.openxmlformats.org/officeDocument/2006/relationships/slideLayout" Target="/ppt/slideLayouts/slideLayout4.xml" Id="R1fa81ab66f6a41eb" /><Relationship Type="http://schemas.openxmlformats.org/officeDocument/2006/relationships/slideLayout" Target="/ppt/slideLayouts/slideLayout5.xml" Id="Rc6a231d6266045cd" /><Relationship Type="http://schemas.openxmlformats.org/officeDocument/2006/relationships/slideLayout" Target="/ppt/slideLayouts/slideLayout6.xml" Id="R5acc02a74fbc42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24f092be554b41"/>
    <p:sldLayoutId xmlns:r="http://schemas.openxmlformats.org/officeDocument/2006/relationships" id="2147483650" r:id="R8ee8a78bafd549ae"/>
    <p:sldLayoutId xmlns:r="http://schemas.openxmlformats.org/officeDocument/2006/relationships" id="2147483651" r:id="Ra4f093a12c824a4b"/>
    <p:sldLayoutId xmlns:r="http://schemas.openxmlformats.org/officeDocument/2006/relationships" id="2147483652" r:id="R1fa81ab66f6a41eb"/>
    <p:sldLayoutId xmlns:r="http://schemas.openxmlformats.org/officeDocument/2006/relationships" id="2147483653" r:id="Rc6a231d6266045cd"/>
    <p:sldLayoutId xmlns:r="http://schemas.openxmlformats.org/officeDocument/2006/relationships" id="2147483654" r:id="R5acc02a74fbc42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c6f0afbe6420b" /><Relationship Type="http://schemas.openxmlformats.org/officeDocument/2006/relationships/notesSlide" Target="/ppt/notesSlides/notesSlide1.xml" Id="R5b5717ed24ab49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5204DF2E-28AD-4909-BBE2-07F92D9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" y="180000"/>
            <a:ext cx="597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200" b="1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Active learning for materials screening</a:t>
            </a:r>
          </a:p>
        </p:txBody>
      </p:sp>
      <p:sp>
        <p:nvSpPr>
          <p:cNvPr id="2" name="pool">
            <a:extLst xmlns:a="http://schemas.openxmlformats.org/drawingml/2006/main">
              <a:ext uri="{FF2B5EF4-FFF2-40B4-BE49-F238E27FC236}">
                <a16:creationId xmlns:a16="http://schemas.microsoft.com/office/drawing/2014/main" id="{98B70350-AFC3-4942-92F2-1DAB4EF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1008000"/>
            <a:ext cx="100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000">
            <a:solidFill>
              <a:srgbClr val="53616C"/>
            </a:solidFill>
            <a:prstDash val="solid"/>
          </a:ln>
        </p:spPr>
      </p:sp>
      <p:sp>
        <p:nvSpPr>
          <p:cNvPr id="3" name="pool-label">
            <a:extLst xmlns:a="http://schemas.openxmlformats.org/drawingml/2006/main">
              <a:ext uri="{FF2B5EF4-FFF2-40B4-BE49-F238E27FC236}">
                <a16:creationId xmlns:a16="http://schemas.microsoft.com/office/drawing/2014/main" id="{698D2231-3F55-45B5-95CF-8F13D61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1008000"/>
            <a:ext cx="100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4" name="surrogate">
            <a:extLst xmlns:a="http://schemas.openxmlformats.org/drawingml/2006/main">
              <a:ext uri="{FF2B5EF4-FFF2-40B4-BE49-F238E27FC236}">
                <a16:creationId xmlns:a16="http://schemas.microsoft.com/office/drawing/2014/main" id="{0392889D-C39A-4655-BCB6-CA9B6E5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000" y="1008000"/>
            <a:ext cx="1008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9000">
            <a:solidFill>
              <a:srgbClr val="53616C"/>
            </a:solidFill>
            <a:prstDash val="solid"/>
          </a:ln>
        </p:spPr>
      </p:sp>
      <p:sp>
        <p:nvSpPr>
          <p:cNvPr id="5" name="surrogate-label">
            <a:extLst xmlns:a="http://schemas.openxmlformats.org/drawingml/2006/main">
              <a:ext uri="{FF2B5EF4-FFF2-40B4-BE49-F238E27FC236}">
                <a16:creationId xmlns:a16="http://schemas.microsoft.com/office/drawing/2014/main" id="{2C530F9B-03A4-4898-A632-05FD0CF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000" y="1008000"/>
            <a:ext cx="100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Surrogate</a:t>
            </a:r>
          </a:p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6" name="acquisition">
            <a:extLst xmlns:a="http://schemas.openxmlformats.org/drawingml/2006/main">
              <a:ext uri="{FF2B5EF4-FFF2-40B4-BE49-F238E27FC236}">
                <a16:creationId xmlns:a16="http://schemas.microsoft.com/office/drawing/2014/main" id="{103DF159-F3FD-4BC9-A8F4-16A9192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1008000"/>
            <a:ext cx="111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7CF"/>
          </a:solidFill>
          <a:ln xmlns:a="http://schemas.openxmlformats.org/drawingml/2006/main" w="14400">
            <a:solidFill>
              <a:srgbClr val="53616C"/>
            </a:solidFill>
            <a:prstDash val="solid"/>
          </a:ln>
        </p:spPr>
      </p:sp>
      <p:sp>
        <p:nvSpPr>
          <p:cNvPr id="7" name="acquisition-label">
            <a:extLst xmlns:a="http://schemas.openxmlformats.org/drawingml/2006/main">
              <a:ext uri="{FF2B5EF4-FFF2-40B4-BE49-F238E27FC236}">
                <a16:creationId xmlns:a16="http://schemas.microsoft.com/office/drawing/2014/main" id="{0D011362-FF23-4282-B783-34913E11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000" y="1008000"/>
            <a:ext cx="11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Acquisition</a:t>
            </a:r>
          </a:p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8" name="experiment">
            <a:extLst xmlns:a="http://schemas.openxmlformats.org/drawingml/2006/main">
              <a:ext uri="{FF2B5EF4-FFF2-40B4-BE49-F238E27FC236}">
                <a16:creationId xmlns:a16="http://schemas.microsoft.com/office/drawing/2014/main" id="{FA597D51-1E45-478B-95AD-71A2CF795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000" y="1008000"/>
            <a:ext cx="1116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4"/>
          </a:solidFill>
          <a:ln xmlns:a="http://schemas.openxmlformats.org/drawingml/2006/main" w="9000">
            <a:solidFill>
              <a:srgbClr val="53616C"/>
            </a:solidFill>
            <a:prstDash val="solid"/>
          </a:ln>
        </p:spPr>
      </p:sp>
      <p:sp>
        <p:nvSpPr>
          <p:cNvPr id="9" name="experiment-label">
            <a:extLst xmlns:a="http://schemas.openxmlformats.org/drawingml/2006/main">
              <a:ext uri="{FF2B5EF4-FFF2-40B4-BE49-F238E27FC236}">
                <a16:creationId xmlns:a16="http://schemas.microsoft.com/office/drawing/2014/main" id="{5B5B11DD-9FDA-4C7E-AD7E-55006271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000" y="1008000"/>
            <a:ext cx="1116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10" name="pool-to-surrogate">
            <a:extLst xmlns:a="http://schemas.openxmlformats.org/drawingml/2006/main">
              <a:ext uri="{FF2B5EF4-FFF2-40B4-BE49-F238E27FC236}">
                <a16:creationId xmlns:a16="http://schemas.microsoft.com/office/drawing/2014/main" id="{6A4CD9D9-4E41-40C9-B420-26767A9E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00" y="1278000"/>
            <a:ext cx="540000" cy="36"/>
          </a:xfrm>
          <a:custGeom xmlns:a="http://schemas.openxmlformats.org/drawingml/2006/main">
            <a:pathLst>
              <a:path w="540000" h="36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00">
            <a:solidFill>
              <a:srgbClr val="1C252D"/>
            </a:solidFill>
          </a:ln>
        </p:spPr>
      </p:sp>
      <p:sp>
        <p:nvSpPr>
          <p:cNvPr id="11" name="pool-to-surrogate-head">
            <a:extLst xmlns:a="http://schemas.openxmlformats.org/drawingml/2006/main">
              <a:ext uri="{FF2B5EF4-FFF2-40B4-BE49-F238E27FC236}">
                <a16:creationId xmlns:a16="http://schemas.microsoft.com/office/drawing/2014/main" id="{0A111B39-D09E-44B6-8E47-6C9E78A1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7000" y="1258200"/>
            <a:ext cx="45000" cy="39600"/>
          </a:xfrm>
          <a:custGeom xmlns:a="http://schemas.openxmlformats.org/drawingml/2006/main">
            <a:pathLst>
              <a:path w="45000" h="39600">
                <a:moveTo>
                  <a:pt x="45000" y="19800"/>
                </a:moveTo>
                <a:lnTo>
                  <a:pt x="0" y="0"/>
                </a:lnTo>
                <a:lnTo>
                  <a:pt x="0" y="39600"/>
                </a:lnTo>
                <a:close/>
              </a:path>
            </a:pathLst>
          </a:custGeom>
          <a:solidFill xmlns:a="http://schemas.openxmlformats.org/drawingml/2006/main">
            <a:srgbClr val="1C252D"/>
          </a:solidFill>
          <a:ln xmlns:a="http://schemas.openxmlformats.org/drawingml/2006/main" w="0">
            <a:noFill/>
          </a:ln>
        </p:spPr>
      </p:sp>
      <p:sp>
        <p:nvSpPr>
          <p:cNvPr id="12" name="surrogate-to-acquisition">
            <a:extLst xmlns:a="http://schemas.openxmlformats.org/drawingml/2006/main">
              <a:ext uri="{FF2B5EF4-FFF2-40B4-BE49-F238E27FC236}">
                <a16:creationId xmlns:a16="http://schemas.microsoft.com/office/drawing/2014/main" id="{5F9FFF1B-C1DB-4F48-AE69-871E13B7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0" y="1278000"/>
            <a:ext cx="576000" cy="36"/>
          </a:xfrm>
          <a:custGeom xmlns:a="http://schemas.openxmlformats.org/drawingml/2006/main">
            <a:pathLst>
              <a:path w="576000" h="36">
                <a:moveTo>
                  <a:pt x="0" y="0"/>
                </a:moveTo>
                <a:lnTo>
                  <a:pt x="57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00">
            <a:solidFill>
              <a:srgbClr val="1C252D"/>
            </a:solidFill>
          </a:ln>
        </p:spPr>
      </p:sp>
      <p:sp>
        <p:nvSpPr>
          <p:cNvPr id="13" name="surrogate-to-acquisition-head">
            <a:extLst xmlns:a="http://schemas.openxmlformats.org/drawingml/2006/main">
              <a:ext uri="{FF2B5EF4-FFF2-40B4-BE49-F238E27FC236}">
                <a16:creationId xmlns:a16="http://schemas.microsoft.com/office/drawing/2014/main" id="{C4620B49-9CE5-493E-9845-5B49463F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000" y="1258200"/>
            <a:ext cx="45000" cy="39600"/>
          </a:xfrm>
          <a:custGeom xmlns:a="http://schemas.openxmlformats.org/drawingml/2006/main">
            <a:pathLst>
              <a:path w="45000" h="39600">
                <a:moveTo>
                  <a:pt x="45000" y="19800"/>
                </a:moveTo>
                <a:lnTo>
                  <a:pt x="0" y="0"/>
                </a:lnTo>
                <a:lnTo>
                  <a:pt x="0" y="39600"/>
                </a:lnTo>
                <a:close/>
              </a:path>
            </a:pathLst>
          </a:custGeom>
          <a:solidFill xmlns:a="http://schemas.openxmlformats.org/drawingml/2006/main">
            <a:srgbClr val="1C252D"/>
          </a:solidFill>
          <a:ln xmlns:a="http://schemas.openxmlformats.org/drawingml/2006/main" w="0">
            <a:noFill/>
          </a:ln>
        </p:spPr>
      </p:sp>
      <p:sp>
        <p:nvSpPr>
          <p:cNvPr id="14" name="acquisition-to-experiment">
            <a:extLst xmlns:a="http://schemas.openxmlformats.org/drawingml/2006/main">
              <a:ext uri="{FF2B5EF4-FFF2-40B4-BE49-F238E27FC236}">
                <a16:creationId xmlns:a16="http://schemas.microsoft.com/office/drawing/2014/main" id="{EFEF4CBB-8C8C-4D84-9DD8-8BE0F2A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278000"/>
            <a:ext cx="540000" cy="36"/>
          </a:xfrm>
          <a:custGeom xmlns:a="http://schemas.openxmlformats.org/drawingml/2006/main">
            <a:pathLst>
              <a:path w="540000" h="36">
                <a:moveTo>
                  <a:pt x="0" y="0"/>
                </a:moveTo>
                <a:lnTo>
                  <a:pt x="54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00">
            <a:solidFill>
              <a:srgbClr val="1C252D"/>
            </a:solidFill>
          </a:ln>
        </p:spPr>
      </p:sp>
      <p:sp>
        <p:nvSpPr>
          <p:cNvPr id="15" name="acquisition-to-experiment-head">
            <a:extLst xmlns:a="http://schemas.openxmlformats.org/drawingml/2006/main">
              <a:ext uri="{FF2B5EF4-FFF2-40B4-BE49-F238E27FC236}">
                <a16:creationId xmlns:a16="http://schemas.microsoft.com/office/drawing/2014/main" id="{88E9CC86-C3B4-4C9A-8CC9-0127F398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000" y="1258200"/>
            <a:ext cx="45000" cy="39600"/>
          </a:xfrm>
          <a:custGeom xmlns:a="http://schemas.openxmlformats.org/drawingml/2006/main">
            <a:pathLst>
              <a:path w="45000" h="39600">
                <a:moveTo>
                  <a:pt x="45000" y="19800"/>
                </a:moveTo>
                <a:lnTo>
                  <a:pt x="0" y="0"/>
                </a:lnTo>
                <a:lnTo>
                  <a:pt x="0" y="39600"/>
                </a:lnTo>
                <a:close/>
              </a:path>
            </a:pathLst>
          </a:custGeom>
          <a:solidFill xmlns:a="http://schemas.openxmlformats.org/drawingml/2006/main">
            <a:srgbClr val="1C252D"/>
          </a:solidFill>
          <a:ln xmlns:a="http://schemas.openxmlformats.org/drawingml/2006/main" w="0">
            <a:noFill/>
          </a:ln>
        </p:spPr>
      </p:sp>
      <p:sp>
        <p:nvSpPr>
          <p:cNvPr id="16" name="measurement-update">
            <a:extLst xmlns:a="http://schemas.openxmlformats.org/drawingml/2006/main">
              <a:ext uri="{FF2B5EF4-FFF2-40B4-BE49-F238E27FC236}">
                <a16:creationId xmlns:a16="http://schemas.microsoft.com/office/drawing/2014/main" id="{1F5E1AD5-AAE9-4E55-9A7D-92F0DFC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000" y="1548000"/>
            <a:ext cx="3294000" cy="792000"/>
          </a:xfrm>
          <a:custGeom xmlns:a="http://schemas.openxmlformats.org/drawingml/2006/main">
            <a:pathLst>
              <a:path w="3294000" h="792000">
                <a:moveTo>
                  <a:pt x="3294000" y="0"/>
                </a:moveTo>
                <a:lnTo>
                  <a:pt x="3294000" y="792000"/>
                </a:lnTo>
                <a:lnTo>
                  <a:pt x="0" y="7920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800">
            <a:solidFill>
              <a:srgbClr val="1C252D"/>
            </a:solidFill>
          </a:ln>
        </p:spPr>
      </p:sp>
      <p:sp>
        <p:nvSpPr>
          <p:cNvPr id="17" name="measurement-update-head">
            <a:extLst xmlns:a="http://schemas.openxmlformats.org/drawingml/2006/main">
              <a:ext uri="{FF2B5EF4-FFF2-40B4-BE49-F238E27FC236}">
                <a16:creationId xmlns:a16="http://schemas.microsoft.com/office/drawing/2014/main" id="{E9B7083B-6DFF-4E5E-8484-9564FC4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00" y="1548000"/>
            <a:ext cx="39600" cy="45000"/>
          </a:xfrm>
          <a:custGeom xmlns:a="http://schemas.openxmlformats.org/drawingml/2006/main">
            <a:pathLst>
              <a:path w="39600" h="45000">
                <a:moveTo>
                  <a:pt x="19800" y="0"/>
                </a:moveTo>
                <a:lnTo>
                  <a:pt x="0" y="45000"/>
                </a:lnTo>
                <a:lnTo>
                  <a:pt x="39600" y="45000"/>
                </a:lnTo>
                <a:close/>
              </a:path>
            </a:pathLst>
          </a:custGeom>
          <a:solidFill xmlns:a="http://schemas.openxmlformats.org/drawingml/2006/main">
            <a:srgbClr val="1C252D"/>
          </a:solidFill>
          <a:ln xmlns:a="http://schemas.openxmlformats.org/drawingml/2006/main" w="0">
            <a:noFill/>
          </a:ln>
        </p:spPr>
      </p:sp>
      <p:sp>
        <p:nvSpPr>
          <p:cNvPr id="18" name="measurement-label">
            <a:extLst xmlns:a="http://schemas.openxmlformats.org/drawingml/2006/main">
              <a:ext uri="{FF2B5EF4-FFF2-40B4-BE49-F238E27FC236}">
                <a16:creationId xmlns:a16="http://schemas.microsoft.com/office/drawing/2014/main" id="{A4C00FA0-FF27-4CD4-B8F7-CB1BBF73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000" y="1944000"/>
            <a:ext cx="2088000" cy="2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New measurement</a:t>
            </a:r>
          </a:p>
        </p:txBody>
      </p:sp>
      <p:sp>
        <p:nvSpPr>
          <p:cNvPr id="19" name="fixture-label">
            <a:extLst xmlns:a="http://schemas.openxmlformats.org/drawingml/2006/main">
              <a:ext uri="{FF2B5EF4-FFF2-40B4-BE49-F238E27FC236}">
                <a16:creationId xmlns:a16="http://schemas.microsoft.com/office/drawing/2014/main" id="{5FFA38EB-CC8A-43ED-B255-1BCA3184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" y="2700000"/>
            <a:ext cx="5976000" cy="2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defPPr>
            <a:lvl1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1pPr>
            <a:lvl2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2pPr>
            <a:lvl3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3pPr>
            <a:lvl4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4pPr>
            <a:lvl5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5pPr>
            <a:lvl6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6pPr>
            <a:lvl7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7pPr>
            <a:lvl8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8pPr>
            <a:lvl9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950" b="0" i="0">
                <a:solidFill>
                  <a:srgbClr val="1C252D"/>
                </a:solidFill>
                <a:latin typeface="Arial"/>
                <a:ea typeface="Arial"/>
                <a:cs typeface="Arial"/>
              </a:defRPr>
            </a:pPr>
            <a:r>
              <a:rPr sz="950" b="0" i="0">
                <a:solidFill>
                  <a:srgbClr val="1C252D"/>
                </a:solidFill>
                <a:latin typeface="Arial"/>
                <a:ea typeface="Arial"/>
                <a:cs typeface="Arial"/>
              </a:rPr>
              <a:t>Conceptual test fixture; no measured results</a:t>
            </a:r>
          </a:p>
        </p:txBody>
      </p:sp>
    </p:spTree>
    <p:extLst>
      <p:ext uri="{BB962C8B-B14F-4D97-AF65-F5344CB8AC3E}">
        <p14:creationId xmlns:p14="http://schemas.microsoft.com/office/powerpoint/2010/main" val="144348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2026-10-24T06:58:29.8460000Z</dcterms:created>
  <dcterms:modified xsi:type="dcterms:W3CDTF">2026-10-24T06:58:29.8460000Z</dcterms:modified>
</coreProperties>
</file>