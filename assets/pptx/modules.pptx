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modules</a:t>
            </a:r>
          </a:p>
        </p:txBody>
      </p:sp>
      <p:sp>
        <p:nvSpPr>
          <p:cNvPr id="3" name="Cube 2"/>
          <p:cNvSpPr/>
          <p:nvPr/>
        </p:nvSpPr>
        <p:spPr>
          <a:xfrm>
            <a:off x="575157" y="880110"/>
            <a:ext cx="1920240" cy="960120"/>
          </a:xfrm>
          <a:prstGeom prst="cube">
            <a:avLst/>
          </a:prstGeom>
          <a:solidFill>
            <a:srgbClr val="DAE8FC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Convolution</a:t>
            </a:r>
          </a:p>
        </p:txBody>
      </p:sp>
      <p:sp>
        <p:nvSpPr>
          <p:cNvPr id="4" name="Trapezoid 3"/>
          <p:cNvSpPr/>
          <p:nvPr/>
        </p:nvSpPr>
        <p:spPr>
          <a:xfrm>
            <a:off x="2855442" y="880110"/>
            <a:ext cx="1920240" cy="960120"/>
          </a:xfrm>
          <a:prstGeom prst="trapezoid">
            <a:avLst/>
          </a:prstGeom>
          <a:solidFill>
            <a:srgbClr val="D5E8D4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Pooling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5727" y="880110"/>
            <a:ext cx="19202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Normalization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16012" y="880110"/>
            <a:ext cx="1920240" cy="960120"/>
          </a:xfrm>
          <a:prstGeom prst="roundRect">
            <a:avLst/>
          </a:prstGeom>
          <a:solidFill>
            <a:srgbClr val="FFE6CC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Activation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6297" y="880110"/>
            <a:ext cx="1920240" cy="960120"/>
          </a:xfrm>
          <a:prstGeom prst="roundRect">
            <a:avLst/>
          </a:prstGeom>
          <a:solidFill>
            <a:srgbClr val="FFE6CC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MLP / FC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5157" y="2320290"/>
            <a:ext cx="1920240" cy="960120"/>
          </a:xfrm>
          <a:prstGeom prst="roundRect">
            <a:avLst/>
          </a:prstGeom>
          <a:solidFill>
            <a:srgbClr val="E1D5E7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5442" y="2320290"/>
            <a:ext cx="1920240" cy="960120"/>
          </a:xfrm>
          <a:prstGeom prst="roundRect">
            <a:avLst/>
          </a:prstGeom>
          <a:solidFill>
            <a:srgbClr val="DAE8FC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Embedding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5727" y="2320290"/>
            <a:ext cx="1920240" cy="960120"/>
          </a:xfrm>
          <a:prstGeom prst="roundRect">
            <a:avLst/>
          </a:prstGeom>
          <a:solidFill>
            <a:srgbClr val="DAE8FC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Projection</a:t>
            </a:r>
          </a:p>
        </p:txBody>
      </p:sp>
      <p:sp>
        <p:nvSpPr>
          <p:cNvPr id="11" name="Cube 10"/>
          <p:cNvSpPr/>
          <p:nvPr/>
        </p:nvSpPr>
        <p:spPr>
          <a:xfrm>
            <a:off x="7416012" y="2320290"/>
            <a:ext cx="1920240" cy="960120"/>
          </a:xfrm>
          <a:prstGeom prst="cube">
            <a:avLst/>
          </a:prstGeom>
          <a:solidFill>
            <a:srgbClr val="DAE8FC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Feature map</a:t>
            </a:r>
          </a:p>
        </p:txBody>
      </p:sp>
      <p:sp>
        <p:nvSpPr>
          <p:cNvPr id="12" name="Oval 11"/>
          <p:cNvSpPr/>
          <p:nvPr/>
        </p:nvSpPr>
        <p:spPr>
          <a:xfrm>
            <a:off x="9696297" y="2320290"/>
            <a:ext cx="1920240" cy="960120"/>
          </a:xfrm>
          <a:prstGeom prst="ellipse">
            <a:avLst/>
          </a:prstGeom>
          <a:solidFill>
            <a:srgbClr val="FFF2CC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Token</a:t>
            </a:r>
          </a:p>
        </p:txBody>
      </p:sp>
      <p:sp>
        <p:nvSpPr>
          <p:cNvPr id="13" name="Oval 12"/>
          <p:cNvSpPr/>
          <p:nvPr/>
        </p:nvSpPr>
        <p:spPr>
          <a:xfrm>
            <a:off x="575157" y="3760470"/>
            <a:ext cx="192024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Add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5442" y="376047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Concat</a:t>
            </a:r>
          </a:p>
        </p:txBody>
      </p:sp>
      <p:sp>
        <p:nvSpPr>
          <p:cNvPr id="15" name="Diamond 14"/>
          <p:cNvSpPr/>
          <p:nvPr/>
        </p:nvSpPr>
        <p:spPr>
          <a:xfrm>
            <a:off x="5135727" y="3760470"/>
            <a:ext cx="1920240" cy="960120"/>
          </a:xfrm>
          <a:prstGeom prst="diamond">
            <a:avLst/>
          </a:prstGeom>
          <a:solidFill>
            <a:srgbClr val="F8CECC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Loss</a:t>
            </a:r>
          </a:p>
        </p:txBody>
      </p:sp>
      <p:sp>
        <p:nvSpPr>
          <p:cNvPr id="16" name="Oval 15"/>
          <p:cNvSpPr/>
          <p:nvPr/>
        </p:nvSpPr>
        <p:spPr>
          <a:xfrm>
            <a:off x="7416012" y="3760470"/>
            <a:ext cx="1920240" cy="960120"/>
          </a:xfrm>
          <a:prstGeom prst="ellipse">
            <a:avLst/>
          </a:prstGeom>
          <a:solidFill>
            <a:srgbClr val="E1D5E7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Prototype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6297" y="3760470"/>
            <a:ext cx="1920240" cy="960120"/>
          </a:xfrm>
          <a:prstGeom prst="roundRect">
            <a:avLst/>
          </a:prstGeom>
          <a:solidFill>
            <a:srgbClr val="D5E8D4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Aggregation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5157" y="5200650"/>
            <a:ext cx="19202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5442" y="5200650"/>
            <a:ext cx="19202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5727" y="5200650"/>
            <a:ext cx="19202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Router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6012" y="5200650"/>
            <a:ext cx="19202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Switch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6297" y="5200650"/>
            <a:ext cx="19202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17">
                <a:solidFill>
                  <a:srgbClr val="24323D"/>
                </a:solidFill>
                <a:latin typeface="Arial"/>
              </a:rPr>
              <a:t>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