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alexnet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215828"/>
            <a:ext cx="0" cy="36252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1951232"/>
            <a:ext cx="0" cy="24858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531269"/>
            <a:ext cx="0" cy="24858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132022"/>
            <a:ext cx="0" cy="22787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3608481"/>
            <a:ext cx="0" cy="22787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084940"/>
            <a:ext cx="0" cy="24858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4685693"/>
            <a:ext cx="0" cy="22787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5162152"/>
            <a:ext cx="0" cy="22787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5638611"/>
            <a:ext cx="0" cy="24858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be 11"/>
          <p:cNvSpPr/>
          <p:nvPr/>
        </p:nvSpPr>
        <p:spPr>
          <a:xfrm>
            <a:off x="5577957" y="801516"/>
            <a:ext cx="1035780" cy="414312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41">
                <a:solidFill>
                  <a:srgbClr val="333333"/>
                </a:solidFill>
                <a:latin typeface="Arial"/>
              </a:rPr>
              <a:t>Input</a:t>
            </a:r>
          </a:p>
          <a:p>
            <a:pPr algn="ctr"/>
            <a:r>
              <a:rPr sz="1141">
                <a:solidFill>
                  <a:srgbClr val="333333"/>
                </a:solidFill>
                <a:latin typeface="Arial"/>
              </a:rPr>
              <a:t>224x224x3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6507" y="1215828"/>
            <a:ext cx="1698680" cy="942560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141">
                <a:solidFill>
                  <a:srgbClr val="6C8EBF"/>
                </a:solidFill>
                <a:latin typeface="Arial"/>
              </a:rPr>
              <a:t>Conv Stack</a:t>
            </a:r>
          </a:p>
        </p:txBody>
      </p:sp>
      <p:sp>
        <p:nvSpPr>
          <p:cNvPr id="14" name="Cube 13"/>
          <p:cNvSpPr/>
          <p:nvPr/>
        </p:nvSpPr>
        <p:spPr>
          <a:xfrm>
            <a:off x="5453663" y="1578351"/>
            <a:ext cx="1284367" cy="37288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97">
                <a:solidFill>
                  <a:srgbClr val="333333"/>
                </a:solidFill>
                <a:latin typeface="Arial"/>
              </a:rPr>
              <a:t>5 Conv + 3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957" y="2199819"/>
            <a:ext cx="1035780" cy="331449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78">
                <a:solidFill>
                  <a:srgbClr val="333333"/>
                </a:solidFill>
                <a:latin typeface="Arial"/>
              </a:rPr>
              <a:t>Flatten</a:t>
            </a:r>
          </a:p>
        </p:txBody>
      </p:sp>
      <p:sp>
        <p:nvSpPr>
          <p:cNvPr id="16" name="Cube 15"/>
          <p:cNvSpPr/>
          <p:nvPr/>
        </p:nvSpPr>
        <p:spPr>
          <a:xfrm>
            <a:off x="5577957" y="2779856"/>
            <a:ext cx="1035780" cy="35216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60">
                <a:solidFill>
                  <a:srgbClr val="333333"/>
                </a:solidFill>
                <a:latin typeface="Arial"/>
              </a:rPr>
              <a:t>FC1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02250" y="3359894"/>
            <a:ext cx="787193" cy="24858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78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40104" y="3836353"/>
            <a:ext cx="911486" cy="24858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78">
                <a:solidFill>
                  <a:srgbClr val="333333"/>
                </a:solidFill>
                <a:latin typeface="Arial"/>
              </a:rPr>
              <a:t>Dropout</a:t>
            </a:r>
          </a:p>
        </p:txBody>
      </p:sp>
      <p:sp>
        <p:nvSpPr>
          <p:cNvPr id="19" name="Cube 18"/>
          <p:cNvSpPr/>
          <p:nvPr/>
        </p:nvSpPr>
        <p:spPr>
          <a:xfrm>
            <a:off x="5577957" y="4333527"/>
            <a:ext cx="1035780" cy="35216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60">
                <a:solidFill>
                  <a:srgbClr val="333333"/>
                </a:solidFill>
                <a:latin typeface="Arial"/>
              </a:rPr>
              <a:t>FC2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02250" y="4913564"/>
            <a:ext cx="787193" cy="24858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78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40104" y="5390023"/>
            <a:ext cx="911486" cy="24858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78">
                <a:solidFill>
                  <a:srgbClr val="333333"/>
                </a:solidFill>
                <a:latin typeface="Arial"/>
              </a:rPr>
              <a:t>Dropout</a:t>
            </a:r>
          </a:p>
        </p:txBody>
      </p:sp>
      <p:sp>
        <p:nvSpPr>
          <p:cNvPr id="22" name="Cube 21"/>
          <p:cNvSpPr/>
          <p:nvPr/>
        </p:nvSpPr>
        <p:spPr>
          <a:xfrm>
            <a:off x="5577957" y="5887198"/>
            <a:ext cx="1035780" cy="35216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60">
                <a:solidFill>
                  <a:srgbClr val="333333"/>
                </a:solidFill>
                <a:latin typeface="Arial"/>
              </a:rPr>
              <a:t>Output 1000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Rounded Rectangle 32"/>
          <p:cNvSpPr/>
          <p:nvPr/>
        </p:nvSpPr>
        <p:spPr>
          <a:xfrm>
            <a:off x="3243148" y="961266"/>
            <a:ext cx="5320145" cy="5118346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6C8EBF"/>
                </a:solidFill>
                <a:latin typeface="Arial"/>
              </a:rPr>
              <a:t>ASPP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5522" y="961266"/>
            <a:ext cx="8640650" cy="5118346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aspp-module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3426602" y="1860187"/>
            <a:ext cx="0" cy="104568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26602" y="1860187"/>
            <a:ext cx="33021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426602" y="2777454"/>
            <a:ext cx="0" cy="12841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26602" y="2777454"/>
            <a:ext cx="33021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6602" y="2905871"/>
            <a:ext cx="0" cy="78884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6602" y="3694720"/>
            <a:ext cx="33021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6602" y="2905871"/>
            <a:ext cx="0" cy="1706116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6602" y="4611987"/>
            <a:ext cx="33021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26602" y="2905871"/>
            <a:ext cx="0" cy="168777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24444" y="1860187"/>
            <a:ext cx="223813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62574" y="1860187"/>
            <a:ext cx="0" cy="159604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24444" y="2777454"/>
            <a:ext cx="223813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62574" y="2777454"/>
            <a:ext cx="0" cy="67877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24444" y="3694720"/>
            <a:ext cx="223813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62574" y="3456231"/>
            <a:ext cx="0" cy="23848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4444" y="4611987"/>
            <a:ext cx="113741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61854" y="4611987"/>
            <a:ext cx="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61854" y="4611987"/>
            <a:ext cx="11007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62574" y="3456231"/>
            <a:ext cx="0" cy="1155756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58977" y="5474217"/>
            <a:ext cx="403597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62574" y="3456231"/>
            <a:ext cx="0" cy="2017986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79841" y="3691785"/>
            <a:ext cx="450744" cy="183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75522" y="2410547"/>
            <a:ext cx="1651080" cy="366907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26602" y="2777454"/>
            <a:ext cx="0" cy="18345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26602" y="4593641"/>
            <a:ext cx="0" cy="880576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26602" y="5474217"/>
            <a:ext cx="421942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32717" y="5474217"/>
            <a:ext cx="678777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62574" y="3694720"/>
            <a:ext cx="366907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be 31"/>
          <p:cNvSpPr/>
          <p:nvPr/>
        </p:nvSpPr>
        <p:spPr>
          <a:xfrm>
            <a:off x="1775522" y="2410547"/>
            <a:ext cx="1320863" cy="550359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34" name="Cube 33"/>
          <p:cNvSpPr/>
          <p:nvPr/>
        </p:nvSpPr>
        <p:spPr>
          <a:xfrm>
            <a:off x="3756818" y="1603353"/>
            <a:ext cx="1467626" cy="51366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88">
                <a:solidFill>
                  <a:srgbClr val="333333"/>
                </a:solidFill>
                <a:latin typeface="Arial"/>
              </a:rPr>
              <a:t>Dilated 1</a:t>
            </a:r>
          </a:p>
        </p:txBody>
      </p:sp>
      <p:sp>
        <p:nvSpPr>
          <p:cNvPr id="35" name="Cube 34"/>
          <p:cNvSpPr/>
          <p:nvPr/>
        </p:nvSpPr>
        <p:spPr>
          <a:xfrm>
            <a:off x="3756818" y="2520619"/>
            <a:ext cx="1467626" cy="51366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88">
                <a:solidFill>
                  <a:srgbClr val="333333"/>
                </a:solidFill>
                <a:latin typeface="Arial"/>
              </a:rPr>
              <a:t>Dilated 6</a:t>
            </a:r>
          </a:p>
        </p:txBody>
      </p:sp>
      <p:sp>
        <p:nvSpPr>
          <p:cNvPr id="36" name="Cube 35"/>
          <p:cNvSpPr/>
          <p:nvPr/>
        </p:nvSpPr>
        <p:spPr>
          <a:xfrm>
            <a:off x="3756818" y="3437886"/>
            <a:ext cx="1467626" cy="51366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88">
                <a:solidFill>
                  <a:srgbClr val="333333"/>
                </a:solidFill>
                <a:latin typeface="Arial"/>
              </a:rPr>
              <a:t>Dilated 12</a:t>
            </a:r>
          </a:p>
        </p:txBody>
      </p:sp>
      <p:sp>
        <p:nvSpPr>
          <p:cNvPr id="37" name="Cube 36"/>
          <p:cNvSpPr/>
          <p:nvPr/>
        </p:nvSpPr>
        <p:spPr>
          <a:xfrm>
            <a:off x="3756818" y="4355152"/>
            <a:ext cx="1467626" cy="51366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88">
                <a:solidFill>
                  <a:srgbClr val="333333"/>
                </a:solidFill>
                <a:latin typeface="Arial"/>
              </a:rPr>
              <a:t>Dilated 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8544" y="5235728"/>
            <a:ext cx="1284173" cy="476978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GAP</a:t>
            </a:r>
          </a:p>
        </p:txBody>
      </p:sp>
      <p:sp>
        <p:nvSpPr>
          <p:cNvPr id="39" name="Cube 38"/>
          <p:cNvSpPr/>
          <p:nvPr/>
        </p:nvSpPr>
        <p:spPr>
          <a:xfrm>
            <a:off x="5774804" y="5235728"/>
            <a:ext cx="1284173" cy="476978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88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40" name="Oval 39"/>
          <p:cNvSpPr/>
          <p:nvPr/>
        </p:nvSpPr>
        <p:spPr>
          <a:xfrm>
            <a:off x="7829481" y="3419540"/>
            <a:ext cx="550359" cy="550359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41" name="Cube 40"/>
          <p:cNvSpPr/>
          <p:nvPr/>
        </p:nvSpPr>
        <p:spPr>
          <a:xfrm>
            <a:off x="8838474" y="3419540"/>
            <a:ext cx="1577698" cy="55035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Conv 1x1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883767" y="2395728"/>
            <a:ext cx="10424160" cy="2249424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autoencoder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83767" y="2889504"/>
            <a:ext cx="2414016" cy="597828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901287" y="2889504"/>
            <a:ext cx="1371600" cy="597828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72887" y="3054096"/>
            <a:ext cx="2414016" cy="48999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290407" y="3544305"/>
            <a:ext cx="1317285" cy="60707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be 7"/>
          <p:cNvSpPr/>
          <p:nvPr/>
        </p:nvSpPr>
        <p:spPr>
          <a:xfrm>
            <a:off x="883767" y="2889504"/>
            <a:ext cx="1645919" cy="932688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9" name="Trapezoid 8"/>
          <p:cNvSpPr/>
          <p:nvPr/>
        </p:nvSpPr>
        <p:spPr>
          <a:xfrm>
            <a:off x="2804007" y="2889504"/>
            <a:ext cx="2194560" cy="1207007"/>
          </a:xfrm>
          <a:prstGeom prst="trapezoid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10" name="Cube 9"/>
          <p:cNvSpPr/>
          <p:nvPr/>
        </p:nvSpPr>
        <p:spPr>
          <a:xfrm>
            <a:off x="5272887" y="3054096"/>
            <a:ext cx="1645919" cy="768096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Latent z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193127" y="2944368"/>
            <a:ext cx="2194560" cy="1207007"/>
          </a:xfrm>
          <a:prstGeom prst="trapezoid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sp>
        <p:nvSpPr>
          <p:cNvPr id="12" name="Cube 11"/>
          <p:cNvSpPr/>
          <p:nvPr/>
        </p:nvSpPr>
        <p:spPr>
          <a:xfrm>
            <a:off x="9662007" y="3026664"/>
            <a:ext cx="1645919" cy="932688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890377" y="1993502"/>
            <a:ext cx="10410939" cy="3053875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bert-block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99503" y="3575965"/>
            <a:ext cx="832875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831004" y="3575965"/>
            <a:ext cx="55525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386254" y="2409939"/>
            <a:ext cx="0" cy="1166026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386254" y="2399112"/>
            <a:ext cx="376459" cy="10827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1004" y="3575965"/>
            <a:ext cx="971687" cy="638537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0377" y="3104002"/>
            <a:ext cx="3609125" cy="943925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Token+Seg+Pos Emb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7128" y="2326652"/>
            <a:ext cx="3331500" cy="2276525"/>
          </a:xfrm>
          <a:prstGeom prst="roundRect">
            <a:avLst/>
          </a:prstGeom>
          <a:noFill/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666666"/>
                </a:solidFill>
                <a:latin typeface="Arial"/>
              </a:rPr>
              <a:t>Transformer xN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2378" y="3104002"/>
            <a:ext cx="2498625" cy="943925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12" name="Cube 11"/>
          <p:cNvSpPr/>
          <p:nvPr/>
        </p:nvSpPr>
        <p:spPr>
          <a:xfrm>
            <a:off x="8802691" y="1993502"/>
            <a:ext cx="2498625" cy="832875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[CLS] Output</a:t>
            </a:r>
          </a:p>
        </p:txBody>
      </p:sp>
      <p:sp>
        <p:nvSpPr>
          <p:cNvPr id="13" name="Cube 12"/>
          <p:cNvSpPr/>
          <p:nvPr/>
        </p:nvSpPr>
        <p:spPr>
          <a:xfrm>
            <a:off x="8802691" y="4214502"/>
            <a:ext cx="2498625" cy="83287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Token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bi-lstm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807" y="3499104"/>
            <a:ext cx="21336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322167" y="2453640"/>
            <a:ext cx="0" cy="104546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322167" y="2453640"/>
            <a:ext cx="42672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08807" y="3499104"/>
            <a:ext cx="21336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22167" y="3499104"/>
            <a:ext cx="0" cy="1088136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22167" y="4587240"/>
            <a:ext cx="42672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2453640"/>
            <a:ext cx="21336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09207" y="2453640"/>
            <a:ext cx="0" cy="102412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207" y="3477768"/>
            <a:ext cx="42672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4587240"/>
            <a:ext cx="21336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309207" y="3477768"/>
            <a:ext cx="0" cy="110947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207" y="3477768"/>
            <a:ext cx="42672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6007" y="3477768"/>
            <a:ext cx="64008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96247" y="3477768"/>
            <a:ext cx="64008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1847" y="3157728"/>
            <a:ext cx="2346960" cy="68275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Sequence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8887" y="2090927"/>
            <a:ext cx="2346960" cy="725424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Forward LSTM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8887" y="4224528"/>
            <a:ext cx="2346960" cy="725424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Backward LSTM</a:t>
            </a:r>
          </a:p>
        </p:txBody>
      </p:sp>
      <p:sp>
        <p:nvSpPr>
          <p:cNvPr id="20" name="Oval 19"/>
          <p:cNvSpPr/>
          <p:nvPr/>
        </p:nvSpPr>
        <p:spPr>
          <a:xfrm>
            <a:off x="6735927" y="3157728"/>
            <a:ext cx="640080" cy="640080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21" name="Cube 20"/>
          <p:cNvSpPr/>
          <p:nvPr/>
        </p:nvSpPr>
        <p:spPr>
          <a:xfrm>
            <a:off x="8016087" y="3157728"/>
            <a:ext cx="1280160" cy="640080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22" name="Cube 21"/>
          <p:cNvSpPr/>
          <p:nvPr/>
        </p:nvSpPr>
        <p:spPr>
          <a:xfrm>
            <a:off x="9936327" y="3157728"/>
            <a:ext cx="1493520" cy="64008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Rounded Rectangle 32"/>
          <p:cNvSpPr/>
          <p:nvPr/>
        </p:nvSpPr>
        <p:spPr>
          <a:xfrm>
            <a:off x="8327124" y="2311596"/>
            <a:ext cx="2937377" cy="3683019"/>
          </a:xfrm>
          <a:prstGeom prst="roundRect">
            <a:avLst/>
          </a:prstGeom>
          <a:noFill/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B85450"/>
                </a:solidFill>
                <a:latin typeface="Arial"/>
              </a:rPr>
              <a:t>Discriminator 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8082" y="1046264"/>
            <a:ext cx="2711425" cy="3005163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9673A6"/>
                </a:solidFill>
                <a:latin typeface="Arial"/>
              </a:rPr>
              <a:t>Generator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192" y="1046264"/>
            <a:ext cx="10337309" cy="4948351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conditional-gan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1706727" y="3237999"/>
            <a:ext cx="11298" cy="1174951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06727" y="4412950"/>
            <a:ext cx="5784374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491101" y="3622118"/>
            <a:ext cx="0" cy="79083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339393" y="1520763"/>
            <a:ext cx="33892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78321" y="1520763"/>
            <a:ext cx="0" cy="72304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8321" y="2243810"/>
            <a:ext cx="338928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39393" y="2966857"/>
            <a:ext cx="33892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678321" y="2243810"/>
            <a:ext cx="0" cy="72304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78321" y="2243810"/>
            <a:ext cx="338928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59535" y="2243810"/>
            <a:ext cx="474499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34034" y="2243810"/>
            <a:ext cx="24854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3795" y="2514953"/>
            <a:ext cx="0" cy="54228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67603" y="3328380"/>
            <a:ext cx="1129761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520155" y="5286933"/>
            <a:ext cx="4677209" cy="723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95813" y="3780284"/>
            <a:ext cx="0" cy="117495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84839" y="3102428"/>
            <a:ext cx="994190" cy="22595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84839" y="5271568"/>
            <a:ext cx="316333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101172" y="3328380"/>
            <a:ext cx="0" cy="1943188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101172" y="3102428"/>
            <a:ext cx="677857" cy="22595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8025" y="3237999"/>
            <a:ext cx="20561" cy="176830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6656" y="1249621"/>
            <a:ext cx="1242736" cy="542285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6656" y="2695714"/>
            <a:ext cx="1242736" cy="542285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3017249" y="1972667"/>
            <a:ext cx="542285" cy="542285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28" name="Cube 27"/>
          <p:cNvSpPr/>
          <p:nvPr/>
        </p:nvSpPr>
        <p:spPr>
          <a:xfrm>
            <a:off x="4259986" y="1837096"/>
            <a:ext cx="1807616" cy="677856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Gen</a:t>
            </a:r>
          </a:p>
        </p:txBody>
      </p:sp>
      <p:sp>
        <p:nvSpPr>
          <p:cNvPr id="29" name="Cube 28"/>
          <p:cNvSpPr/>
          <p:nvPr/>
        </p:nvSpPr>
        <p:spPr>
          <a:xfrm>
            <a:off x="4259986" y="3057238"/>
            <a:ext cx="1807616" cy="54228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Fake x</a:t>
            </a:r>
          </a:p>
        </p:txBody>
      </p:sp>
      <p:sp>
        <p:nvSpPr>
          <p:cNvPr id="30" name="Cube 29"/>
          <p:cNvSpPr/>
          <p:nvPr/>
        </p:nvSpPr>
        <p:spPr>
          <a:xfrm>
            <a:off x="927192" y="4977831"/>
            <a:ext cx="1581664" cy="632665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Real x</a:t>
            </a:r>
          </a:p>
        </p:txBody>
      </p:sp>
      <p:sp>
        <p:nvSpPr>
          <p:cNvPr id="31" name="Oval 30"/>
          <p:cNvSpPr/>
          <p:nvPr/>
        </p:nvSpPr>
        <p:spPr>
          <a:xfrm>
            <a:off x="7197364" y="3034642"/>
            <a:ext cx="587475" cy="587475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7197364" y="4977831"/>
            <a:ext cx="587475" cy="587475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4" name="Cube 33"/>
          <p:cNvSpPr/>
          <p:nvPr/>
        </p:nvSpPr>
        <p:spPr>
          <a:xfrm>
            <a:off x="8779029" y="3102428"/>
            <a:ext cx="2033569" cy="67785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Disc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4981" y="4955235"/>
            <a:ext cx="1581664" cy="632665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Real/Fake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4641894" y="836685"/>
            <a:ext cx="2907905" cy="4979788"/>
          </a:xfrm>
          <a:prstGeom prst="roundRect">
            <a:avLst/>
          </a:prstGeom>
          <a:noFill/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335">
                <a:solidFill>
                  <a:srgbClr val="B85450"/>
                </a:solidFill>
                <a:latin typeface="Arial"/>
              </a:rPr>
              <a:t>DCGAN Discriminator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dcgan-discriminator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624243"/>
            <a:ext cx="0" cy="29079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302754"/>
            <a:ext cx="0" cy="29079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981265"/>
            <a:ext cx="0" cy="29079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659777"/>
            <a:ext cx="0" cy="29079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4338288"/>
            <a:ext cx="0" cy="29079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944102"/>
            <a:ext cx="0" cy="29079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5574148"/>
            <a:ext cx="0" cy="29079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be 10"/>
          <p:cNvSpPr/>
          <p:nvPr/>
        </p:nvSpPr>
        <p:spPr>
          <a:xfrm>
            <a:off x="5344638" y="1260755"/>
            <a:ext cx="1502417" cy="363488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5">
                <a:solidFill>
                  <a:srgbClr val="333333"/>
                </a:solidFill>
                <a:latin typeface="Arial"/>
              </a:rPr>
              <a:t>Input Image</a:t>
            </a:r>
          </a:p>
        </p:txBody>
      </p:sp>
      <p:sp>
        <p:nvSpPr>
          <p:cNvPr id="12" name="Cube 11"/>
          <p:cNvSpPr/>
          <p:nvPr/>
        </p:nvSpPr>
        <p:spPr>
          <a:xfrm>
            <a:off x="5199243" y="1915033"/>
            <a:ext cx="1793208" cy="38772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40">
                <a:solidFill>
                  <a:srgbClr val="333333"/>
                </a:solidFill>
                <a:latin typeface="Arial"/>
              </a:rPr>
              <a:t>Conv + LeakyReLU</a:t>
            </a:r>
          </a:p>
        </p:txBody>
      </p:sp>
      <p:sp>
        <p:nvSpPr>
          <p:cNvPr id="13" name="Cube 12"/>
          <p:cNvSpPr/>
          <p:nvPr/>
        </p:nvSpPr>
        <p:spPr>
          <a:xfrm>
            <a:off x="5199243" y="2593545"/>
            <a:ext cx="1793208" cy="38772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40">
                <a:solidFill>
                  <a:srgbClr val="333333"/>
                </a:solidFill>
                <a:latin typeface="Arial"/>
              </a:rPr>
              <a:t>Conv + LeakyReLU</a:t>
            </a:r>
          </a:p>
        </p:txBody>
      </p:sp>
      <p:sp>
        <p:nvSpPr>
          <p:cNvPr id="14" name="Cube 13"/>
          <p:cNvSpPr/>
          <p:nvPr/>
        </p:nvSpPr>
        <p:spPr>
          <a:xfrm>
            <a:off x="5199243" y="3272056"/>
            <a:ext cx="1793208" cy="38772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40">
                <a:solidFill>
                  <a:srgbClr val="333333"/>
                </a:solidFill>
                <a:latin typeface="Arial"/>
              </a:rPr>
              <a:t>Conv + LeakyReLU</a:t>
            </a:r>
          </a:p>
        </p:txBody>
      </p:sp>
      <p:sp>
        <p:nvSpPr>
          <p:cNvPr id="15" name="Cube 14"/>
          <p:cNvSpPr/>
          <p:nvPr/>
        </p:nvSpPr>
        <p:spPr>
          <a:xfrm>
            <a:off x="5199243" y="3950567"/>
            <a:ext cx="1793208" cy="38772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40">
                <a:solidFill>
                  <a:srgbClr val="333333"/>
                </a:solidFill>
                <a:latin typeface="Arial"/>
              </a:rPr>
              <a:t>Conv + LeakyReLU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5801" y="4629079"/>
            <a:ext cx="1260092" cy="315023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44">
                <a:solidFill>
                  <a:srgbClr val="333333"/>
                </a:solidFill>
                <a:latin typeface="Arial"/>
              </a:rPr>
              <a:t>Flatten</a:t>
            </a:r>
          </a:p>
        </p:txBody>
      </p:sp>
      <p:sp>
        <p:nvSpPr>
          <p:cNvPr id="17" name="Cube 16"/>
          <p:cNvSpPr/>
          <p:nvPr/>
        </p:nvSpPr>
        <p:spPr>
          <a:xfrm>
            <a:off x="5635429" y="5234892"/>
            <a:ext cx="920836" cy="33925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4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8499" y="5864938"/>
            <a:ext cx="1114697" cy="339255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44">
                <a:solidFill>
                  <a:srgbClr val="333333"/>
                </a:solidFill>
                <a:latin typeface="Arial"/>
              </a:rPr>
              <a:t>Sigmoid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4545606" y="852733"/>
            <a:ext cx="3100482" cy="5335412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424">
                <a:solidFill>
                  <a:srgbClr val="9673A6"/>
                </a:solidFill>
                <a:latin typeface="Arial"/>
              </a:rPr>
              <a:t>DCGAN Generator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dcgan-generator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640772"/>
            <a:ext cx="0" cy="31004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338381"/>
            <a:ext cx="0" cy="31004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3061827"/>
            <a:ext cx="0" cy="31004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785272"/>
            <a:ext cx="0" cy="3100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4508718"/>
            <a:ext cx="0" cy="31004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5232164"/>
            <a:ext cx="0" cy="31004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72401" y="1304887"/>
            <a:ext cx="1446891" cy="335885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17">
                <a:solidFill>
                  <a:srgbClr val="333333"/>
                </a:solidFill>
                <a:latin typeface="Arial"/>
              </a:rPr>
              <a:t>Noise z</a:t>
            </a:r>
          </a:p>
        </p:txBody>
      </p:sp>
      <p:sp>
        <p:nvSpPr>
          <p:cNvPr id="11" name="Cube 10"/>
          <p:cNvSpPr/>
          <p:nvPr/>
        </p:nvSpPr>
        <p:spPr>
          <a:xfrm>
            <a:off x="5243215" y="1950820"/>
            <a:ext cx="1705265" cy="387560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FC + Reshape</a:t>
            </a:r>
          </a:p>
        </p:txBody>
      </p:sp>
      <p:sp>
        <p:nvSpPr>
          <p:cNvPr id="12" name="Cube 11"/>
          <p:cNvSpPr/>
          <p:nvPr/>
        </p:nvSpPr>
        <p:spPr>
          <a:xfrm>
            <a:off x="5062353" y="2648429"/>
            <a:ext cx="2066988" cy="413397"/>
          </a:xfrm>
          <a:prstGeom prst="cube">
            <a:avLst/>
          </a:prstGeom>
          <a:solidFill>
            <a:srgbClr val="DCEEF8"/>
          </a:solidFill>
          <a:ln>
            <a:solidFill>
              <a:srgbClr val="56A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Deconv + BN + ReLU</a:t>
            </a:r>
          </a:p>
        </p:txBody>
      </p:sp>
      <p:sp>
        <p:nvSpPr>
          <p:cNvPr id="13" name="Cube 12"/>
          <p:cNvSpPr/>
          <p:nvPr/>
        </p:nvSpPr>
        <p:spPr>
          <a:xfrm>
            <a:off x="5062353" y="3371875"/>
            <a:ext cx="2066988" cy="413397"/>
          </a:xfrm>
          <a:prstGeom prst="cube">
            <a:avLst/>
          </a:prstGeom>
          <a:solidFill>
            <a:srgbClr val="DCEEF8"/>
          </a:solidFill>
          <a:ln>
            <a:solidFill>
              <a:srgbClr val="56A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Deconv + BN + ReLU</a:t>
            </a:r>
          </a:p>
        </p:txBody>
      </p:sp>
      <p:sp>
        <p:nvSpPr>
          <p:cNvPr id="14" name="Cube 13"/>
          <p:cNvSpPr/>
          <p:nvPr/>
        </p:nvSpPr>
        <p:spPr>
          <a:xfrm>
            <a:off x="5062353" y="4095321"/>
            <a:ext cx="2066988" cy="413397"/>
          </a:xfrm>
          <a:prstGeom prst="cube">
            <a:avLst/>
          </a:prstGeom>
          <a:solidFill>
            <a:srgbClr val="DCEEF8"/>
          </a:solidFill>
          <a:ln>
            <a:solidFill>
              <a:srgbClr val="56A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Deconv + BN + ReLU</a:t>
            </a:r>
          </a:p>
        </p:txBody>
      </p:sp>
      <p:sp>
        <p:nvSpPr>
          <p:cNvPr id="15" name="Cube 14"/>
          <p:cNvSpPr/>
          <p:nvPr/>
        </p:nvSpPr>
        <p:spPr>
          <a:xfrm>
            <a:off x="5062353" y="4818766"/>
            <a:ext cx="2066988" cy="413397"/>
          </a:xfrm>
          <a:prstGeom prst="cube">
            <a:avLst/>
          </a:prstGeom>
          <a:solidFill>
            <a:srgbClr val="DCEEF8"/>
          </a:solidFill>
          <a:ln>
            <a:solidFill>
              <a:srgbClr val="56A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Deconv + BN + ReLU</a:t>
            </a:r>
          </a:p>
        </p:txBody>
      </p:sp>
      <p:sp>
        <p:nvSpPr>
          <p:cNvPr id="16" name="Cube 15"/>
          <p:cNvSpPr/>
          <p:nvPr/>
        </p:nvSpPr>
        <p:spPr>
          <a:xfrm>
            <a:off x="5294889" y="5542212"/>
            <a:ext cx="1601915" cy="38756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Output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5326377" y="803739"/>
            <a:ext cx="1486595" cy="5433400"/>
          </a:xfrm>
          <a:prstGeom prst="roundRect">
            <a:avLst/>
          </a:prstGeom>
          <a:noFill/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154">
                <a:solidFill>
                  <a:srgbClr val="82B366"/>
                </a:solidFill>
                <a:latin typeface="Arial"/>
              </a:rPr>
              <a:t>Dense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densenet-block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69675" y="1463285"/>
            <a:ext cx="0" cy="25125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69675" y="1944858"/>
            <a:ext cx="0" cy="23031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69675" y="2405493"/>
            <a:ext cx="0" cy="2512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69675" y="2949880"/>
            <a:ext cx="0" cy="73282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69675" y="3913026"/>
            <a:ext cx="0" cy="23031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69675" y="4373661"/>
            <a:ext cx="0" cy="2512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59206" y="4918048"/>
            <a:ext cx="10469" cy="20938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59206" y="5483373"/>
            <a:ext cx="0" cy="2512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88434" y="1316719"/>
            <a:ext cx="261724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50158" y="1316719"/>
            <a:ext cx="0" cy="398868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237178" y="5305401"/>
            <a:ext cx="51298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03593" y="2803314"/>
            <a:ext cx="261724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65317" y="2803314"/>
            <a:ext cx="0" cy="250208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237178" y="5305401"/>
            <a:ext cx="628139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50915" y="1170153"/>
            <a:ext cx="837518" cy="293131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9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4667" y="1714540"/>
            <a:ext cx="670014" cy="230317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9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92791" y="2175176"/>
            <a:ext cx="753766" cy="23031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9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21" name="Cube 20"/>
          <p:cNvSpPr/>
          <p:nvPr/>
        </p:nvSpPr>
        <p:spPr>
          <a:xfrm>
            <a:off x="5535757" y="2656749"/>
            <a:ext cx="1067835" cy="293131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6">
                <a:solidFill>
                  <a:srgbClr val="333333"/>
                </a:solidFill>
                <a:latin typeface="Arial"/>
              </a:rPr>
              <a:t>Conv 1x1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28888" y="3201136"/>
            <a:ext cx="481573" cy="251255"/>
          </a:xfrm>
          <a:prstGeom prst="rect">
            <a:avLst/>
          </a:prstGeom>
          <a:noFill/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18">
                <a:solidFill>
                  <a:srgbClr val="999999"/>
                </a:solidFill>
                <a:latin typeface="Arial"/>
              </a:rPr>
              <a:t>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34667" y="3682709"/>
            <a:ext cx="670014" cy="230317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9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92791" y="4143344"/>
            <a:ext cx="753766" cy="230317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9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25" name="Cube 24"/>
          <p:cNvSpPr/>
          <p:nvPr/>
        </p:nvSpPr>
        <p:spPr>
          <a:xfrm>
            <a:off x="5535757" y="4624917"/>
            <a:ext cx="1067835" cy="293131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6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26" name="Oval 25"/>
          <p:cNvSpPr/>
          <p:nvPr/>
        </p:nvSpPr>
        <p:spPr>
          <a:xfrm>
            <a:off x="5881233" y="5127428"/>
            <a:ext cx="355945" cy="355945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54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27" name="Cube 26"/>
          <p:cNvSpPr/>
          <p:nvPr/>
        </p:nvSpPr>
        <p:spPr>
          <a:xfrm>
            <a:off x="5598571" y="5734629"/>
            <a:ext cx="921270" cy="293131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71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Rounded Rectangle 21"/>
          <p:cNvSpPr/>
          <p:nvPr/>
        </p:nvSpPr>
        <p:spPr>
          <a:xfrm>
            <a:off x="3989070" y="1454971"/>
            <a:ext cx="4213555" cy="4716152"/>
          </a:xfrm>
          <a:prstGeom prst="roundRect">
            <a:avLst/>
          </a:prstGeom>
          <a:noFill/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517">
                <a:solidFill>
                  <a:srgbClr val="82B366"/>
                </a:solidFill>
                <a:latin typeface="Arial"/>
              </a:rPr>
              <a:t>MBConv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89070" y="869755"/>
            <a:ext cx="4213555" cy="5301368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efficientnet-mbconv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045962" y="1076302"/>
            <a:ext cx="523252" cy="385554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5171" y="1282849"/>
            <a:ext cx="0" cy="48194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95171" y="2177885"/>
            <a:ext cx="0" cy="33047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95171" y="2921454"/>
            <a:ext cx="0" cy="18589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5171" y="3107346"/>
            <a:ext cx="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95171" y="3107346"/>
            <a:ext cx="0" cy="8950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95171" y="3609943"/>
            <a:ext cx="0" cy="38555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5171" y="4408591"/>
            <a:ext cx="0" cy="53013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5171" y="4931843"/>
            <a:ext cx="688489" cy="688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76437" y="5124620"/>
            <a:ext cx="0" cy="35801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760178" y="2712841"/>
            <a:ext cx="893934" cy="53908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60178" y="3609943"/>
            <a:ext cx="0" cy="30293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60178" y="4243353"/>
            <a:ext cx="0" cy="30293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283430" y="4704641"/>
            <a:ext cx="110158" cy="6885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93588" y="3410281"/>
            <a:ext cx="0" cy="129436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3588" y="3410281"/>
            <a:ext cx="895036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288624" y="3403396"/>
            <a:ext cx="0" cy="688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4379" y="869755"/>
            <a:ext cx="1101583" cy="413093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1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3" name="Cube 22"/>
          <p:cNvSpPr/>
          <p:nvPr/>
        </p:nvSpPr>
        <p:spPr>
          <a:xfrm>
            <a:off x="5558825" y="1764792"/>
            <a:ext cx="1872691" cy="413093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2">
                <a:solidFill>
                  <a:srgbClr val="333333"/>
                </a:solidFill>
                <a:latin typeface="Arial"/>
              </a:rPr>
              <a:t>Conv 1x1 Expand</a:t>
            </a:r>
          </a:p>
        </p:txBody>
      </p:sp>
      <p:sp>
        <p:nvSpPr>
          <p:cNvPr id="24" name="Cube 23"/>
          <p:cNvSpPr/>
          <p:nvPr/>
        </p:nvSpPr>
        <p:spPr>
          <a:xfrm>
            <a:off x="5668984" y="2508360"/>
            <a:ext cx="1652374" cy="413093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2">
                <a:solidFill>
                  <a:srgbClr val="333333"/>
                </a:solidFill>
                <a:latin typeface="Arial"/>
              </a:rPr>
              <a:t>DW Conv 3x3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4465" y="3251929"/>
            <a:ext cx="991424" cy="358014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1">
                <a:solidFill>
                  <a:srgbClr val="333333"/>
                </a:solidFill>
                <a:latin typeface="Arial"/>
              </a:rPr>
              <a:t>GAP</a:t>
            </a:r>
          </a:p>
        </p:txBody>
      </p:sp>
      <p:sp>
        <p:nvSpPr>
          <p:cNvPr id="26" name="Cube 25"/>
          <p:cNvSpPr/>
          <p:nvPr/>
        </p:nvSpPr>
        <p:spPr>
          <a:xfrm>
            <a:off x="4402163" y="3912878"/>
            <a:ext cx="716028" cy="330474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9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6926" y="4546289"/>
            <a:ext cx="1046503" cy="330474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1">
                <a:solidFill>
                  <a:srgbClr val="333333"/>
                </a:solidFill>
                <a:latin typeface="Arial"/>
              </a:rPr>
              <a:t>Sigmoid</a:t>
            </a:r>
          </a:p>
        </p:txBody>
      </p:sp>
      <p:sp>
        <p:nvSpPr>
          <p:cNvPr id="28" name="Oval 27"/>
          <p:cNvSpPr/>
          <p:nvPr/>
        </p:nvSpPr>
        <p:spPr>
          <a:xfrm>
            <a:off x="6288624" y="3196849"/>
            <a:ext cx="413093" cy="413093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*</a:t>
            </a:r>
          </a:p>
        </p:txBody>
      </p:sp>
      <p:sp>
        <p:nvSpPr>
          <p:cNvPr id="29" name="Cube 28"/>
          <p:cNvSpPr/>
          <p:nvPr/>
        </p:nvSpPr>
        <p:spPr>
          <a:xfrm>
            <a:off x="5503746" y="3995497"/>
            <a:ext cx="1982849" cy="413093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2">
                <a:solidFill>
                  <a:srgbClr val="333333"/>
                </a:solidFill>
                <a:latin typeface="Arial"/>
              </a:rPr>
              <a:t>Conv 1x1 Project</a:t>
            </a:r>
          </a:p>
        </p:txBody>
      </p:sp>
      <p:sp>
        <p:nvSpPr>
          <p:cNvPr id="30" name="Oval 29"/>
          <p:cNvSpPr/>
          <p:nvPr/>
        </p:nvSpPr>
        <p:spPr>
          <a:xfrm>
            <a:off x="7183660" y="4739066"/>
            <a:ext cx="385554" cy="38555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1" name="Cube 30"/>
          <p:cNvSpPr/>
          <p:nvPr/>
        </p:nvSpPr>
        <p:spPr>
          <a:xfrm>
            <a:off x="6825646" y="5482634"/>
            <a:ext cx="1101583" cy="413093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9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Rounded Rectangle 27"/>
          <p:cNvSpPr/>
          <p:nvPr/>
        </p:nvSpPr>
        <p:spPr>
          <a:xfrm>
            <a:off x="2364060" y="2297645"/>
            <a:ext cx="2934706" cy="2264433"/>
          </a:xfrm>
          <a:prstGeom prst="roundRect">
            <a:avLst/>
          </a:prstGeom>
          <a:noFill/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B85450"/>
                </a:solidFill>
                <a:latin typeface="Arial"/>
              </a:rPr>
              <a:t>RPN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437" y="2116490"/>
            <a:ext cx="10796821" cy="2807898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faster-r-cnn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52448" y="2931687"/>
            <a:ext cx="851427" cy="634041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3179256" y="3565728"/>
            <a:ext cx="724619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79256" y="3565728"/>
            <a:ext cx="0" cy="43477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63930" y="3928038"/>
            <a:ext cx="54346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29094" y="3928038"/>
            <a:ext cx="32607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55172" y="3022264"/>
            <a:ext cx="0" cy="90577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55172" y="3022264"/>
            <a:ext cx="2173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29094" y="3928038"/>
            <a:ext cx="32607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55172" y="3928038"/>
            <a:ext cx="0" cy="76084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55172" y="4688887"/>
            <a:ext cx="2173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512959" y="2931687"/>
            <a:ext cx="1539489" cy="61592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7437" y="2116490"/>
            <a:ext cx="652157" cy="1449238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49594" y="2116490"/>
            <a:ext cx="5162909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842230" y="2116490"/>
            <a:ext cx="670273" cy="150358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26369" y="3801229"/>
            <a:ext cx="525349" cy="1032582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51718" y="4833811"/>
            <a:ext cx="344194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842230" y="3620075"/>
            <a:ext cx="851428" cy="121373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30683" y="3801229"/>
            <a:ext cx="525349" cy="851427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56032" y="4652656"/>
            <a:ext cx="2137626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5842230" y="3620075"/>
            <a:ext cx="851428" cy="103258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52448" y="2931687"/>
            <a:ext cx="851427" cy="634041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03875" y="3565728"/>
            <a:ext cx="597811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01686" y="3565728"/>
            <a:ext cx="5434" cy="26140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be 26"/>
          <p:cNvSpPr/>
          <p:nvPr/>
        </p:nvSpPr>
        <p:spPr>
          <a:xfrm>
            <a:off x="697437" y="3565728"/>
            <a:ext cx="1485468" cy="724618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Backbone</a:t>
            </a:r>
          </a:p>
        </p:txBody>
      </p:sp>
      <p:sp>
        <p:nvSpPr>
          <p:cNvPr id="29" name="Cube 28"/>
          <p:cNvSpPr/>
          <p:nvPr/>
        </p:nvSpPr>
        <p:spPr>
          <a:xfrm>
            <a:off x="3052448" y="2931687"/>
            <a:ext cx="1557930" cy="471002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69">
                <a:solidFill>
                  <a:srgbClr val="333333"/>
                </a:solidFill>
                <a:latin typeface="Arial"/>
              </a:rPr>
              <a:t>Conv</a:t>
            </a:r>
          </a:p>
        </p:txBody>
      </p:sp>
      <p:sp>
        <p:nvSpPr>
          <p:cNvPr id="30" name="Cube 29"/>
          <p:cNvSpPr/>
          <p:nvPr/>
        </p:nvSpPr>
        <p:spPr>
          <a:xfrm>
            <a:off x="2726369" y="3801229"/>
            <a:ext cx="905773" cy="39854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RPN cls</a:t>
            </a:r>
          </a:p>
        </p:txBody>
      </p:sp>
      <p:sp>
        <p:nvSpPr>
          <p:cNvPr id="31" name="Cube 30"/>
          <p:cNvSpPr/>
          <p:nvPr/>
        </p:nvSpPr>
        <p:spPr>
          <a:xfrm>
            <a:off x="4030683" y="3801229"/>
            <a:ext cx="905773" cy="39854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RPN reg</a:t>
            </a:r>
          </a:p>
        </p:txBody>
      </p:sp>
      <p:sp>
        <p:nvSpPr>
          <p:cNvPr id="32" name="Cube 31"/>
          <p:cNvSpPr/>
          <p:nvPr/>
        </p:nvSpPr>
        <p:spPr>
          <a:xfrm>
            <a:off x="5842230" y="3620075"/>
            <a:ext cx="1521699" cy="615926"/>
          </a:xfrm>
          <a:prstGeom prst="cube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RoI Pool</a:t>
            </a:r>
          </a:p>
        </p:txBody>
      </p:sp>
      <p:sp>
        <p:nvSpPr>
          <p:cNvPr id="33" name="Cube 32"/>
          <p:cNvSpPr/>
          <p:nvPr/>
        </p:nvSpPr>
        <p:spPr>
          <a:xfrm>
            <a:off x="7907394" y="3620075"/>
            <a:ext cx="1521699" cy="615926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 Head</a:t>
            </a:r>
          </a:p>
        </p:txBody>
      </p:sp>
      <p:sp>
        <p:nvSpPr>
          <p:cNvPr id="34" name="Cube 33"/>
          <p:cNvSpPr/>
          <p:nvPr/>
        </p:nvSpPr>
        <p:spPr>
          <a:xfrm>
            <a:off x="9972558" y="2786763"/>
            <a:ext cx="1521699" cy="47100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Class</a:t>
            </a:r>
          </a:p>
        </p:txBody>
      </p:sp>
      <p:sp>
        <p:nvSpPr>
          <p:cNvPr id="35" name="Cube 34"/>
          <p:cNvSpPr/>
          <p:nvPr/>
        </p:nvSpPr>
        <p:spPr>
          <a:xfrm>
            <a:off x="9972558" y="4453386"/>
            <a:ext cx="1521699" cy="47100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725684" y="1909391"/>
            <a:ext cx="10740325" cy="3222097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fcn-decoder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940044" y="3452092"/>
            <a:ext cx="2632630" cy="617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25684" y="4467541"/>
            <a:ext cx="6483251" cy="35150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2248" y="1909391"/>
            <a:ext cx="2050426" cy="1288839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16660" y="4817267"/>
            <a:ext cx="566308" cy="177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23099" y="3471620"/>
            <a:ext cx="839699" cy="109356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13223" y="4838570"/>
            <a:ext cx="58583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5684" y="1909391"/>
            <a:ext cx="1816092" cy="371029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26536" y="3443187"/>
            <a:ext cx="573729" cy="890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be 11"/>
          <p:cNvSpPr/>
          <p:nvPr/>
        </p:nvSpPr>
        <p:spPr>
          <a:xfrm>
            <a:off x="725684" y="1909391"/>
            <a:ext cx="1210727" cy="54678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F5</a:t>
            </a:r>
          </a:p>
        </p:txBody>
      </p:sp>
      <p:sp>
        <p:nvSpPr>
          <p:cNvPr id="13" name="Cube 12"/>
          <p:cNvSpPr/>
          <p:nvPr/>
        </p:nvSpPr>
        <p:spPr>
          <a:xfrm>
            <a:off x="725684" y="3159174"/>
            <a:ext cx="1210727" cy="54678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F4</a:t>
            </a:r>
          </a:p>
        </p:txBody>
      </p:sp>
      <p:sp>
        <p:nvSpPr>
          <p:cNvPr id="14" name="Cube 13"/>
          <p:cNvSpPr/>
          <p:nvPr/>
        </p:nvSpPr>
        <p:spPr>
          <a:xfrm>
            <a:off x="725684" y="4467541"/>
            <a:ext cx="1210727" cy="54678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F3</a:t>
            </a:r>
          </a:p>
        </p:txBody>
      </p:sp>
      <p:sp>
        <p:nvSpPr>
          <p:cNvPr id="15" name="Cube 14"/>
          <p:cNvSpPr/>
          <p:nvPr/>
        </p:nvSpPr>
        <p:spPr>
          <a:xfrm>
            <a:off x="2522248" y="1909391"/>
            <a:ext cx="1210727" cy="546780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16" name="Oval 15"/>
          <p:cNvSpPr/>
          <p:nvPr/>
        </p:nvSpPr>
        <p:spPr>
          <a:xfrm>
            <a:off x="4318811" y="3198230"/>
            <a:ext cx="507724" cy="50772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17" name="Cube 16"/>
          <p:cNvSpPr/>
          <p:nvPr/>
        </p:nvSpPr>
        <p:spPr>
          <a:xfrm>
            <a:off x="5412372" y="3198230"/>
            <a:ext cx="1210727" cy="546780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18" name="Oval 17"/>
          <p:cNvSpPr/>
          <p:nvPr/>
        </p:nvSpPr>
        <p:spPr>
          <a:xfrm>
            <a:off x="7208935" y="4565180"/>
            <a:ext cx="507724" cy="50772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19" name="Cube 18"/>
          <p:cNvSpPr/>
          <p:nvPr/>
        </p:nvSpPr>
        <p:spPr>
          <a:xfrm>
            <a:off x="8302496" y="4565180"/>
            <a:ext cx="1210727" cy="546780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9059" y="4545652"/>
            <a:ext cx="1366950" cy="585835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Heatmap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fpn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63153" y="1341444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63153" y="2794108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63153" y="4246771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63153" y="5699435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7102" y="1341444"/>
            <a:ext cx="20959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64467" y="1341444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64467" y="2794108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64467" y="4246771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4467" y="5699435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230737" y="1631977"/>
            <a:ext cx="1463040" cy="89235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7102" y="2794108"/>
            <a:ext cx="93385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00518" y="2794108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230737" y="3084640"/>
            <a:ext cx="1463040" cy="89235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7102" y="4246771"/>
            <a:ext cx="93385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00518" y="4246771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230737" y="4537304"/>
            <a:ext cx="1463040" cy="89235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7102" y="5699435"/>
            <a:ext cx="93385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00518" y="5699435"/>
            <a:ext cx="62257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be 20"/>
          <p:cNvSpPr/>
          <p:nvPr/>
        </p:nvSpPr>
        <p:spPr>
          <a:xfrm>
            <a:off x="1810489" y="1009406"/>
            <a:ext cx="1452663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C5</a:t>
            </a:r>
          </a:p>
        </p:txBody>
      </p:sp>
      <p:sp>
        <p:nvSpPr>
          <p:cNvPr id="22" name="Cube 21"/>
          <p:cNvSpPr/>
          <p:nvPr/>
        </p:nvSpPr>
        <p:spPr>
          <a:xfrm>
            <a:off x="1810489" y="2462070"/>
            <a:ext cx="1452663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C4</a:t>
            </a:r>
          </a:p>
        </p:txBody>
      </p:sp>
      <p:sp>
        <p:nvSpPr>
          <p:cNvPr id="23" name="Cube 22"/>
          <p:cNvSpPr/>
          <p:nvPr/>
        </p:nvSpPr>
        <p:spPr>
          <a:xfrm>
            <a:off x="1810489" y="3914734"/>
            <a:ext cx="1452663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C3</a:t>
            </a:r>
          </a:p>
        </p:txBody>
      </p:sp>
      <p:sp>
        <p:nvSpPr>
          <p:cNvPr id="24" name="Cube 23"/>
          <p:cNvSpPr/>
          <p:nvPr/>
        </p:nvSpPr>
        <p:spPr>
          <a:xfrm>
            <a:off x="1810489" y="5367398"/>
            <a:ext cx="1452663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C2</a:t>
            </a:r>
          </a:p>
        </p:txBody>
      </p:sp>
      <p:sp>
        <p:nvSpPr>
          <p:cNvPr id="25" name="Cube 24"/>
          <p:cNvSpPr/>
          <p:nvPr/>
        </p:nvSpPr>
        <p:spPr>
          <a:xfrm>
            <a:off x="3885723" y="1050911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6" name="Cube 25"/>
          <p:cNvSpPr/>
          <p:nvPr/>
        </p:nvSpPr>
        <p:spPr>
          <a:xfrm>
            <a:off x="3885723" y="2503575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7" name="Cube 26"/>
          <p:cNvSpPr/>
          <p:nvPr/>
        </p:nvSpPr>
        <p:spPr>
          <a:xfrm>
            <a:off x="3885723" y="3956239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8" name="Cube 27"/>
          <p:cNvSpPr/>
          <p:nvPr/>
        </p:nvSpPr>
        <p:spPr>
          <a:xfrm>
            <a:off x="3885723" y="5408902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9" name="Cube 28"/>
          <p:cNvSpPr/>
          <p:nvPr/>
        </p:nvSpPr>
        <p:spPr>
          <a:xfrm>
            <a:off x="7123088" y="1050911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P5</a:t>
            </a:r>
          </a:p>
        </p:txBody>
      </p:sp>
      <p:sp>
        <p:nvSpPr>
          <p:cNvPr id="30" name="Oval 29"/>
          <p:cNvSpPr/>
          <p:nvPr/>
        </p:nvSpPr>
        <p:spPr>
          <a:xfrm>
            <a:off x="5960957" y="2524327"/>
            <a:ext cx="539560" cy="53956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1" name="Cube 30"/>
          <p:cNvSpPr/>
          <p:nvPr/>
        </p:nvSpPr>
        <p:spPr>
          <a:xfrm>
            <a:off x="7123088" y="2503575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sp>
        <p:nvSpPr>
          <p:cNvPr id="32" name="Oval 31"/>
          <p:cNvSpPr/>
          <p:nvPr/>
        </p:nvSpPr>
        <p:spPr>
          <a:xfrm>
            <a:off x="5960957" y="3976991"/>
            <a:ext cx="539560" cy="53956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3" name="Cube 32"/>
          <p:cNvSpPr/>
          <p:nvPr/>
        </p:nvSpPr>
        <p:spPr>
          <a:xfrm>
            <a:off x="7123088" y="3956239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34" name="Oval 33"/>
          <p:cNvSpPr/>
          <p:nvPr/>
        </p:nvSpPr>
        <p:spPr>
          <a:xfrm>
            <a:off x="5960957" y="5429655"/>
            <a:ext cx="539560" cy="53956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5" name="Cube 34"/>
          <p:cNvSpPr/>
          <p:nvPr/>
        </p:nvSpPr>
        <p:spPr>
          <a:xfrm>
            <a:off x="7123088" y="5408902"/>
            <a:ext cx="1141378" cy="58106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36" name="Cube 35"/>
          <p:cNvSpPr/>
          <p:nvPr/>
        </p:nvSpPr>
        <p:spPr>
          <a:xfrm>
            <a:off x="8887037" y="1050911"/>
            <a:ext cx="1494168" cy="58106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 P5</a:t>
            </a:r>
          </a:p>
        </p:txBody>
      </p:sp>
      <p:sp>
        <p:nvSpPr>
          <p:cNvPr id="37" name="Cube 36"/>
          <p:cNvSpPr/>
          <p:nvPr/>
        </p:nvSpPr>
        <p:spPr>
          <a:xfrm>
            <a:off x="8887037" y="2503575"/>
            <a:ext cx="1494168" cy="58106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 P4</a:t>
            </a:r>
          </a:p>
        </p:txBody>
      </p:sp>
      <p:sp>
        <p:nvSpPr>
          <p:cNvPr id="38" name="Cube 37"/>
          <p:cNvSpPr/>
          <p:nvPr/>
        </p:nvSpPr>
        <p:spPr>
          <a:xfrm>
            <a:off x="8887037" y="3956239"/>
            <a:ext cx="1494168" cy="58106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 P3</a:t>
            </a:r>
          </a:p>
        </p:txBody>
      </p:sp>
      <p:sp>
        <p:nvSpPr>
          <p:cNvPr id="39" name="Cube 38"/>
          <p:cNvSpPr/>
          <p:nvPr/>
        </p:nvSpPr>
        <p:spPr>
          <a:xfrm>
            <a:off x="8887037" y="5408902"/>
            <a:ext cx="1494168" cy="58106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 P2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full-transformer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99123" y="2312687"/>
            <a:ext cx="52133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10675" y="2312687"/>
            <a:ext cx="52133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10675" y="1322156"/>
            <a:ext cx="729865" cy="78199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49072" y="2312687"/>
            <a:ext cx="52133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99123" y="4780325"/>
            <a:ext cx="52133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10675" y="4780325"/>
            <a:ext cx="52133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0675" y="3789794"/>
            <a:ext cx="729865" cy="78199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49072" y="4780325"/>
            <a:ext cx="225910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52091" y="2312687"/>
            <a:ext cx="556087" cy="246763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08178" y="4597445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cross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94131" y="4780325"/>
            <a:ext cx="52133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31905" y="4780325"/>
            <a:ext cx="52133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2682" y="2052021"/>
            <a:ext cx="1216441" cy="52133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Src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0456" y="2052021"/>
            <a:ext cx="1390219" cy="521332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0456" y="1113623"/>
            <a:ext cx="1390219" cy="417065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Pos Enc</a:t>
            </a:r>
          </a:p>
        </p:txBody>
      </p:sp>
      <p:sp>
        <p:nvSpPr>
          <p:cNvPr id="18" name="Oval 17"/>
          <p:cNvSpPr/>
          <p:nvPr/>
        </p:nvSpPr>
        <p:spPr>
          <a:xfrm>
            <a:off x="4332007" y="2104154"/>
            <a:ext cx="417065" cy="417065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2850" y="1443800"/>
            <a:ext cx="1876795" cy="1703018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6C8EBF"/>
                </a:solidFill>
                <a:latin typeface="Arial"/>
              </a:rPr>
              <a:t>Encoder xN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0405" y="2052021"/>
            <a:ext cx="1181686" cy="521332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682" y="4519659"/>
            <a:ext cx="1216441" cy="52133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Tgt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0456" y="4519659"/>
            <a:ext cx="1390219" cy="521332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Embedding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0456" y="3581262"/>
            <a:ext cx="1390219" cy="417065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Pos Enc</a:t>
            </a:r>
          </a:p>
        </p:txBody>
      </p:sp>
      <p:sp>
        <p:nvSpPr>
          <p:cNvPr id="24" name="Oval 23"/>
          <p:cNvSpPr/>
          <p:nvPr/>
        </p:nvSpPr>
        <p:spPr>
          <a:xfrm>
            <a:off x="4332007" y="4571793"/>
            <a:ext cx="417065" cy="417065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0624" y="3911439"/>
            <a:ext cx="2154839" cy="2015817"/>
          </a:xfrm>
          <a:prstGeom prst="roundRect">
            <a:avLst/>
          </a:prstGeom>
          <a:noFill/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82B366"/>
                </a:solidFill>
                <a:latin typeface="Arial"/>
              </a:rPr>
              <a:t>Decoder xN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8178" y="4519659"/>
            <a:ext cx="1285952" cy="521332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sp>
        <p:nvSpPr>
          <p:cNvPr id="27" name="Cube 26"/>
          <p:cNvSpPr/>
          <p:nvPr/>
        </p:nvSpPr>
        <p:spPr>
          <a:xfrm>
            <a:off x="8815463" y="4519659"/>
            <a:ext cx="1216441" cy="521332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Linear</a:t>
            </a:r>
          </a:p>
        </p:txBody>
      </p:sp>
      <p:sp>
        <p:nvSpPr>
          <p:cNvPr id="28" name="Cube 27"/>
          <p:cNvSpPr/>
          <p:nvPr/>
        </p:nvSpPr>
        <p:spPr>
          <a:xfrm>
            <a:off x="10553237" y="4519659"/>
            <a:ext cx="955775" cy="521332"/>
          </a:xfrm>
          <a:prstGeom prst="cub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Softmax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7855736" y="1972586"/>
            <a:ext cx="3053300" cy="4049864"/>
          </a:xfrm>
          <a:prstGeom prst="roundRect">
            <a:avLst/>
          </a:prstGeom>
          <a:noFill/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B85450"/>
                </a:solidFill>
                <a:latin typeface="Arial"/>
              </a:rPr>
              <a:t>Discriminator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0971" y="1018429"/>
            <a:ext cx="2756452" cy="3922643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9673A6"/>
                </a:solidFill>
                <a:latin typeface="Arial"/>
              </a:rPr>
              <a:t>Generator 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69197" y="2354248"/>
            <a:ext cx="0" cy="50888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69197" y="3456829"/>
            <a:ext cx="0" cy="50888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82386" y="3350812"/>
            <a:ext cx="0" cy="50888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82386" y="4495800"/>
            <a:ext cx="0" cy="50888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15040" y="3965713"/>
            <a:ext cx="3180522" cy="360459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795562" y="3138777"/>
            <a:ext cx="0" cy="1187395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795562" y="2714707"/>
            <a:ext cx="1484243" cy="42407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2658" y="5428753"/>
            <a:ext cx="1484243" cy="424069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66901" y="5852822"/>
            <a:ext cx="4028661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795562" y="3138777"/>
            <a:ext cx="0" cy="2714045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795562" y="2714707"/>
            <a:ext cx="1484243" cy="42407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66901" y="1760551"/>
            <a:ext cx="848139" cy="21203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82658" y="1696940"/>
            <a:ext cx="1484243" cy="551290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Noise z</a:t>
            </a:r>
          </a:p>
        </p:txBody>
      </p:sp>
      <p:sp>
        <p:nvSpPr>
          <p:cNvPr id="17" name="Cube 16"/>
          <p:cNvSpPr/>
          <p:nvPr/>
        </p:nvSpPr>
        <p:spPr>
          <a:xfrm>
            <a:off x="3615040" y="1760551"/>
            <a:ext cx="1908313" cy="593697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18" name="Cube 17"/>
          <p:cNvSpPr/>
          <p:nvPr/>
        </p:nvSpPr>
        <p:spPr>
          <a:xfrm>
            <a:off x="3615040" y="2863132"/>
            <a:ext cx="1908313" cy="593697"/>
          </a:xfrm>
          <a:prstGeom prst="cube">
            <a:avLst/>
          </a:prstGeom>
          <a:solidFill>
            <a:srgbClr val="DCEEF8"/>
          </a:solidFill>
          <a:ln>
            <a:solidFill>
              <a:srgbClr val="56A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Deconv</a:t>
            </a:r>
          </a:p>
        </p:txBody>
      </p:sp>
      <p:sp>
        <p:nvSpPr>
          <p:cNvPr id="19" name="Cube 18"/>
          <p:cNvSpPr/>
          <p:nvPr/>
        </p:nvSpPr>
        <p:spPr>
          <a:xfrm>
            <a:off x="3615040" y="3965713"/>
            <a:ext cx="1908313" cy="55129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Fake x</a:t>
            </a:r>
          </a:p>
        </p:txBody>
      </p:sp>
      <p:sp>
        <p:nvSpPr>
          <p:cNvPr id="20" name="Cube 19"/>
          <p:cNvSpPr/>
          <p:nvPr/>
        </p:nvSpPr>
        <p:spPr>
          <a:xfrm>
            <a:off x="1282658" y="5428753"/>
            <a:ext cx="1484243" cy="593697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Real x</a:t>
            </a:r>
          </a:p>
        </p:txBody>
      </p:sp>
      <p:sp>
        <p:nvSpPr>
          <p:cNvPr id="22" name="Cube 21"/>
          <p:cNvSpPr/>
          <p:nvPr/>
        </p:nvSpPr>
        <p:spPr>
          <a:xfrm>
            <a:off x="8279805" y="2714707"/>
            <a:ext cx="2205161" cy="63610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Conv</a:t>
            </a:r>
          </a:p>
        </p:txBody>
      </p:sp>
      <p:sp>
        <p:nvSpPr>
          <p:cNvPr id="23" name="Cube 22"/>
          <p:cNvSpPr/>
          <p:nvPr/>
        </p:nvSpPr>
        <p:spPr>
          <a:xfrm>
            <a:off x="8279805" y="3859695"/>
            <a:ext cx="2205161" cy="636104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9805" y="5004683"/>
            <a:ext cx="2205161" cy="593697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Real/Fake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754089" y="2158815"/>
            <a:ext cx="10683517" cy="2723249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gat-layer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943703" y="3520440"/>
            <a:ext cx="628442" cy="2327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00587" y="3520440"/>
            <a:ext cx="62844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57472" y="3520440"/>
            <a:ext cx="628442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20454" y="3520440"/>
            <a:ext cx="83792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20454" y="2473036"/>
            <a:ext cx="293273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53184" y="2473036"/>
            <a:ext cx="0" cy="104740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53184" y="3520440"/>
            <a:ext cx="418961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20454" y="4567843"/>
            <a:ext cx="293273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153184" y="3520440"/>
            <a:ext cx="0" cy="1047403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53184" y="3520440"/>
            <a:ext cx="418961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87271" y="3834661"/>
            <a:ext cx="0" cy="20948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87271" y="4044141"/>
            <a:ext cx="565598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143251" y="3834661"/>
            <a:ext cx="0" cy="20948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47539" y="3520440"/>
            <a:ext cx="544650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089" y="3206218"/>
            <a:ext cx="1466365" cy="62844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Node 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089" y="2158815"/>
            <a:ext cx="1466365" cy="62844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Node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089" y="4253622"/>
            <a:ext cx="1466365" cy="62844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Node 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8377" y="3206218"/>
            <a:ext cx="1885326" cy="628442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Attn Weights</a:t>
            </a:r>
          </a:p>
        </p:txBody>
      </p:sp>
      <p:sp>
        <p:nvSpPr>
          <p:cNvPr id="22" name="Oval 21"/>
          <p:cNvSpPr/>
          <p:nvPr/>
        </p:nvSpPr>
        <p:spPr>
          <a:xfrm>
            <a:off x="5572145" y="3206218"/>
            <a:ext cx="628442" cy="62844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*</a:t>
            </a:r>
          </a:p>
        </p:txBody>
      </p:sp>
      <p:sp>
        <p:nvSpPr>
          <p:cNvPr id="23" name="Oval 22"/>
          <p:cNvSpPr/>
          <p:nvPr/>
        </p:nvSpPr>
        <p:spPr>
          <a:xfrm>
            <a:off x="6829030" y="3206218"/>
            <a:ext cx="628442" cy="62844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5914" y="3206218"/>
            <a:ext cx="1361624" cy="62844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Activation</a:t>
            </a:r>
          </a:p>
        </p:txBody>
      </p:sp>
      <p:sp>
        <p:nvSpPr>
          <p:cNvPr id="25" name="Cube 24"/>
          <p:cNvSpPr/>
          <p:nvPr/>
        </p:nvSpPr>
        <p:spPr>
          <a:xfrm>
            <a:off x="9971241" y="3185270"/>
            <a:ext cx="1466365" cy="670338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 Feat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5060067" y="1630140"/>
            <a:ext cx="3452601" cy="3797861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lIns="18288" rIns="18288"/>
          <a:lstStyle/>
          <a:p>
            <a:pPr algn="ctr"/>
            <a:r>
              <a:rPr sz="1600">
                <a:solidFill>
                  <a:srgbClr val="9673A6"/>
                </a:solidFill>
                <a:latin typeface="Arial"/>
              </a:rPr>
              <a:t>GPT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gpt-block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700052" y="1457510"/>
            <a:ext cx="0" cy="43157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714806" y="2165293"/>
            <a:ext cx="949466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700052" y="4271380"/>
            <a:ext cx="0" cy="379787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00052" y="2441501"/>
            <a:ext cx="0" cy="34526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00052" y="3304652"/>
            <a:ext cx="0" cy="41431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90573" y="1198565"/>
            <a:ext cx="776835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67408" y="1198565"/>
            <a:ext cx="0" cy="86315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7408" y="1284880"/>
            <a:ext cx="0" cy="176082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958998" y="3045707"/>
            <a:ext cx="120841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67408" y="3045707"/>
            <a:ext cx="0" cy="1864405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958998" y="4910112"/>
            <a:ext cx="120841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95847" y="5169057"/>
            <a:ext cx="604205" cy="414312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09532" y="939620"/>
            <a:ext cx="1381040" cy="517890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9026" y="1958137"/>
            <a:ext cx="1035780" cy="414312"/>
          </a:xfrm>
          <a:prstGeom prst="roundRect">
            <a:avLst/>
          </a:prstGeom>
          <a:solidFill>
            <a:srgbClr val="333333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4272" y="1889085"/>
            <a:ext cx="2071561" cy="552416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Masked SA + LN</a:t>
            </a:r>
          </a:p>
        </p:txBody>
      </p:sp>
      <p:sp>
        <p:nvSpPr>
          <p:cNvPr id="19" name="Oval 18"/>
          <p:cNvSpPr/>
          <p:nvPr/>
        </p:nvSpPr>
        <p:spPr>
          <a:xfrm>
            <a:off x="6441107" y="2786762"/>
            <a:ext cx="517890" cy="51789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4272" y="3718964"/>
            <a:ext cx="2071561" cy="552416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FFN + LN</a:t>
            </a:r>
          </a:p>
        </p:txBody>
      </p:sp>
      <p:sp>
        <p:nvSpPr>
          <p:cNvPr id="21" name="Oval 20"/>
          <p:cNvSpPr/>
          <p:nvPr/>
        </p:nvSpPr>
        <p:spPr>
          <a:xfrm>
            <a:off x="6441107" y="4651167"/>
            <a:ext cx="517890" cy="51789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2" name="Cube 21"/>
          <p:cNvSpPr/>
          <p:nvPr/>
        </p:nvSpPr>
        <p:spPr>
          <a:xfrm>
            <a:off x="6095847" y="5583369"/>
            <a:ext cx="1381040" cy="51789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3258168" y="947964"/>
            <a:ext cx="5675357" cy="5144950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6C8EBF"/>
                </a:solidFill>
                <a:latin typeface="Arial"/>
              </a:rPr>
              <a:t>Inception Module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inception-module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4106820" y="2061820"/>
            <a:ext cx="2103949" cy="42432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432838" y="2061820"/>
            <a:ext cx="777931" cy="42432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210769" y="2061820"/>
            <a:ext cx="548087" cy="42432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210769" y="2061820"/>
            <a:ext cx="1874105" cy="42432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32838" y="2981192"/>
            <a:ext cx="0" cy="38896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58856" y="2981192"/>
            <a:ext cx="0" cy="38896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84874" y="2981192"/>
            <a:ext cx="0" cy="38896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06820" y="2981192"/>
            <a:ext cx="0" cy="176803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06820" y="3157995"/>
            <a:ext cx="2103949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0769" y="3157995"/>
            <a:ext cx="0" cy="109617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32838" y="3865204"/>
            <a:ext cx="0" cy="176803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32838" y="4042007"/>
            <a:ext cx="77793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0769" y="4042007"/>
            <a:ext cx="0" cy="21216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210769" y="3865204"/>
            <a:ext cx="548087" cy="38896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84874" y="3865204"/>
            <a:ext cx="0" cy="176803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210769" y="4042007"/>
            <a:ext cx="1874105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0769" y="4042007"/>
            <a:ext cx="0" cy="21216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10769" y="4855298"/>
            <a:ext cx="0" cy="42432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50518" y="1566773"/>
            <a:ext cx="1520500" cy="495046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3" name="Cube 22"/>
          <p:cNvSpPr/>
          <p:nvPr/>
        </p:nvSpPr>
        <p:spPr>
          <a:xfrm>
            <a:off x="3611773" y="2486145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4" name="Cube 23"/>
          <p:cNvSpPr/>
          <p:nvPr/>
        </p:nvSpPr>
        <p:spPr>
          <a:xfrm>
            <a:off x="4937791" y="2486145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5" name="Cube 24"/>
          <p:cNvSpPr/>
          <p:nvPr/>
        </p:nvSpPr>
        <p:spPr>
          <a:xfrm>
            <a:off x="4937791" y="3370157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3x3</a:t>
            </a:r>
          </a:p>
        </p:txBody>
      </p:sp>
      <p:sp>
        <p:nvSpPr>
          <p:cNvPr id="26" name="Cube 25"/>
          <p:cNvSpPr/>
          <p:nvPr/>
        </p:nvSpPr>
        <p:spPr>
          <a:xfrm>
            <a:off x="6263809" y="2486145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27" name="Cube 26"/>
          <p:cNvSpPr/>
          <p:nvPr/>
        </p:nvSpPr>
        <p:spPr>
          <a:xfrm>
            <a:off x="6263809" y="3370157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5x5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828" y="2486145"/>
            <a:ext cx="990093" cy="495046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MaxPool</a:t>
            </a:r>
          </a:p>
        </p:txBody>
      </p:sp>
      <p:sp>
        <p:nvSpPr>
          <p:cNvPr id="29" name="Cube 28"/>
          <p:cNvSpPr/>
          <p:nvPr/>
        </p:nvSpPr>
        <p:spPr>
          <a:xfrm>
            <a:off x="7589828" y="3370157"/>
            <a:ext cx="990093" cy="495046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31">
                <a:solidFill>
                  <a:srgbClr val="333333"/>
                </a:solidFill>
                <a:latin typeface="Arial"/>
              </a:rPr>
              <a:t>1x1</a:t>
            </a:r>
          </a:p>
        </p:txBody>
      </p:sp>
      <p:sp>
        <p:nvSpPr>
          <p:cNvPr id="30" name="Oval 29"/>
          <p:cNvSpPr/>
          <p:nvPr/>
        </p:nvSpPr>
        <p:spPr>
          <a:xfrm>
            <a:off x="5910205" y="4254170"/>
            <a:ext cx="601128" cy="601128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1" name="Cube 30"/>
          <p:cNvSpPr/>
          <p:nvPr/>
        </p:nvSpPr>
        <p:spPr>
          <a:xfrm>
            <a:off x="5415158" y="5279624"/>
            <a:ext cx="1591221" cy="530407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lenet-5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189169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1822354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455538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088723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3721907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355092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4988276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5621461"/>
            <a:ext cx="0" cy="2302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be 10"/>
          <p:cNvSpPr/>
          <p:nvPr/>
        </p:nvSpPr>
        <p:spPr>
          <a:xfrm>
            <a:off x="5640146" y="786234"/>
            <a:ext cx="911401" cy="402935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7">
                <a:solidFill>
                  <a:srgbClr val="333333"/>
                </a:solidFill>
                <a:latin typeface="Arial"/>
              </a:rPr>
              <a:t>Input</a:t>
            </a:r>
          </a:p>
          <a:p>
            <a:pPr algn="ctr"/>
            <a:r>
              <a:rPr sz="1057">
                <a:solidFill>
                  <a:srgbClr val="333333"/>
                </a:solidFill>
                <a:latin typeface="Arial"/>
              </a:rPr>
              <a:t>32x32x1</a:t>
            </a:r>
          </a:p>
        </p:txBody>
      </p:sp>
      <p:sp>
        <p:nvSpPr>
          <p:cNvPr id="12" name="Cube 11"/>
          <p:cNvSpPr/>
          <p:nvPr/>
        </p:nvSpPr>
        <p:spPr>
          <a:xfrm>
            <a:off x="5640146" y="1419418"/>
            <a:ext cx="911401" cy="40293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Conv</a:t>
            </a:r>
          </a:p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6@5x5</a:t>
            </a:r>
          </a:p>
        </p:txBody>
      </p:sp>
      <p:sp>
        <p:nvSpPr>
          <p:cNvPr id="13" name="Cube 12"/>
          <p:cNvSpPr/>
          <p:nvPr/>
        </p:nvSpPr>
        <p:spPr>
          <a:xfrm>
            <a:off x="5640146" y="2052603"/>
            <a:ext cx="911401" cy="402935"/>
          </a:xfrm>
          <a:prstGeom prst="cube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Pool</a:t>
            </a:r>
          </a:p>
        </p:txBody>
      </p:sp>
      <p:sp>
        <p:nvSpPr>
          <p:cNvPr id="14" name="Cube 13"/>
          <p:cNvSpPr/>
          <p:nvPr/>
        </p:nvSpPr>
        <p:spPr>
          <a:xfrm>
            <a:off x="5640146" y="2685787"/>
            <a:ext cx="911401" cy="402935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Conv</a:t>
            </a:r>
          </a:p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16@5x5</a:t>
            </a:r>
          </a:p>
        </p:txBody>
      </p:sp>
      <p:sp>
        <p:nvSpPr>
          <p:cNvPr id="15" name="Cube 14"/>
          <p:cNvSpPr/>
          <p:nvPr/>
        </p:nvSpPr>
        <p:spPr>
          <a:xfrm>
            <a:off x="5640146" y="3318972"/>
            <a:ext cx="911401" cy="402935"/>
          </a:xfrm>
          <a:prstGeom prst="cube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40146" y="3952156"/>
            <a:ext cx="911401" cy="402935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6">
                <a:solidFill>
                  <a:srgbClr val="333333"/>
                </a:solidFill>
                <a:latin typeface="Arial"/>
              </a:rPr>
              <a:t>Flatten</a:t>
            </a:r>
          </a:p>
        </p:txBody>
      </p:sp>
      <p:sp>
        <p:nvSpPr>
          <p:cNvPr id="17" name="Cube 16"/>
          <p:cNvSpPr/>
          <p:nvPr/>
        </p:nvSpPr>
        <p:spPr>
          <a:xfrm>
            <a:off x="5640146" y="4585341"/>
            <a:ext cx="911401" cy="40293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FC 120</a:t>
            </a:r>
          </a:p>
        </p:txBody>
      </p:sp>
      <p:sp>
        <p:nvSpPr>
          <p:cNvPr id="18" name="Cube 17"/>
          <p:cNvSpPr/>
          <p:nvPr/>
        </p:nvSpPr>
        <p:spPr>
          <a:xfrm>
            <a:off x="5640146" y="5218525"/>
            <a:ext cx="911401" cy="40293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FC 84</a:t>
            </a:r>
          </a:p>
        </p:txBody>
      </p:sp>
      <p:sp>
        <p:nvSpPr>
          <p:cNvPr id="19" name="Cube 18"/>
          <p:cNvSpPr/>
          <p:nvPr/>
        </p:nvSpPr>
        <p:spPr>
          <a:xfrm>
            <a:off x="5640146" y="5851710"/>
            <a:ext cx="911401" cy="40293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2">
                <a:solidFill>
                  <a:srgbClr val="333333"/>
                </a:solidFill>
                <a:latin typeface="Arial"/>
              </a:rPr>
              <a:t>Output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2559957" y="2576873"/>
            <a:ext cx="7290290" cy="1887132"/>
          </a:xfrm>
          <a:prstGeom prst="roundRect">
            <a:avLst/>
          </a:prstGeom>
          <a:noFill/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lIns="18288" rIns="18288"/>
          <a:lstStyle/>
          <a:p>
            <a:pPr algn="ctr"/>
            <a:r>
              <a:rPr sz="1600">
                <a:solidFill>
                  <a:srgbClr val="666666"/>
                </a:solidFill>
                <a:latin typeface="Arial"/>
              </a:rPr>
              <a:t>Repeat xN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mlp-mixer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361311" y="3570101"/>
            <a:ext cx="59593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745058" y="3570101"/>
            <a:ext cx="59593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6865" y="2874842"/>
            <a:ext cx="0" cy="397291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46865" y="2874842"/>
            <a:ext cx="405236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99233" y="2874842"/>
            <a:ext cx="0" cy="43702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57472" y="3570101"/>
            <a:ext cx="59593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40541" y="3570101"/>
            <a:ext cx="59593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599233" y="2914571"/>
            <a:ext cx="0" cy="397291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99233" y="2874842"/>
            <a:ext cx="3595484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94717" y="2874842"/>
            <a:ext cx="0" cy="3972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94717" y="2914571"/>
            <a:ext cx="0" cy="39729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52956" y="3570101"/>
            <a:ext cx="782266" cy="1311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2418" y="3272133"/>
            <a:ext cx="1628893" cy="595936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Patch 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57248" y="3272133"/>
            <a:ext cx="1787809" cy="595936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LN+Token MLP</a:t>
            </a:r>
          </a:p>
        </p:txBody>
      </p:sp>
      <p:sp>
        <p:nvSpPr>
          <p:cNvPr id="18" name="Oval 17"/>
          <p:cNvSpPr/>
          <p:nvPr/>
        </p:nvSpPr>
        <p:spPr>
          <a:xfrm>
            <a:off x="5340994" y="3311862"/>
            <a:ext cx="516478" cy="516478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3409" y="3272133"/>
            <a:ext cx="1887132" cy="595936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LN+Channel MLP</a:t>
            </a:r>
          </a:p>
        </p:txBody>
      </p:sp>
      <p:sp>
        <p:nvSpPr>
          <p:cNvPr id="20" name="Oval 19"/>
          <p:cNvSpPr/>
          <p:nvPr/>
        </p:nvSpPr>
        <p:spPr>
          <a:xfrm>
            <a:off x="8936478" y="3311862"/>
            <a:ext cx="516478" cy="516478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1" name="Cube 20"/>
          <p:cNvSpPr/>
          <p:nvPr/>
        </p:nvSpPr>
        <p:spPr>
          <a:xfrm>
            <a:off x="10267403" y="3272133"/>
            <a:ext cx="1191873" cy="59593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5109954" y="847153"/>
            <a:ext cx="1971786" cy="5346573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393">
                <a:solidFill>
                  <a:srgbClr val="6C8EBF"/>
                </a:solidFill>
                <a:latin typeface="Arial"/>
              </a:rPr>
              <a:t>MobileNet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mobilenet-block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643451"/>
            <a:ext cx="0" cy="30335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325992"/>
            <a:ext cx="0" cy="30335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907416"/>
            <a:ext cx="0" cy="27807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463561"/>
            <a:ext cx="0" cy="30335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4146102"/>
            <a:ext cx="0" cy="30335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727526"/>
            <a:ext cx="0" cy="27807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5283671"/>
            <a:ext cx="0" cy="30335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90261" y="1289540"/>
            <a:ext cx="1011172" cy="353910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4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2" name="Cube 11"/>
          <p:cNvSpPr/>
          <p:nvPr/>
        </p:nvSpPr>
        <p:spPr>
          <a:xfrm>
            <a:off x="5362747" y="1946803"/>
            <a:ext cx="1466199" cy="37918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94">
                <a:solidFill>
                  <a:srgbClr val="333333"/>
                </a:solidFill>
                <a:latin typeface="Arial"/>
              </a:rPr>
              <a:t>DW Conv 3x3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6099" y="2629344"/>
            <a:ext cx="859496" cy="278072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4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6099" y="3185489"/>
            <a:ext cx="859496" cy="27807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4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15" name="Cube 14"/>
          <p:cNvSpPr/>
          <p:nvPr/>
        </p:nvSpPr>
        <p:spPr>
          <a:xfrm>
            <a:off x="5362747" y="3766913"/>
            <a:ext cx="1466199" cy="379189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94">
                <a:solidFill>
                  <a:srgbClr val="333333"/>
                </a:solidFill>
                <a:latin typeface="Arial"/>
              </a:rPr>
              <a:t>PW Conv 1x1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6099" y="4449454"/>
            <a:ext cx="859496" cy="278072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4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6099" y="5005599"/>
            <a:ext cx="859496" cy="27807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94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18" name="Cube 17"/>
          <p:cNvSpPr/>
          <p:nvPr/>
        </p:nvSpPr>
        <p:spPr>
          <a:xfrm>
            <a:off x="5590261" y="5587023"/>
            <a:ext cx="1011172" cy="35391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93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multi-head-attn-detail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56357" y="3539389"/>
            <a:ext cx="18949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945855" y="2004461"/>
            <a:ext cx="0" cy="153492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45855" y="2004461"/>
            <a:ext cx="37899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756357" y="3520439"/>
            <a:ext cx="568492" cy="1895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56357" y="3539389"/>
            <a:ext cx="18949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45855" y="3539389"/>
            <a:ext cx="0" cy="149702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45855" y="5036418"/>
            <a:ext cx="37899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77588" y="2004461"/>
            <a:ext cx="284246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61834" y="2004461"/>
            <a:ext cx="0" cy="109908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61834" y="3103545"/>
            <a:ext cx="37899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77588" y="3520439"/>
            <a:ext cx="284246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61834" y="3103545"/>
            <a:ext cx="0" cy="41689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61834" y="3103545"/>
            <a:ext cx="37899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47220" y="3103545"/>
            <a:ext cx="56849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2104" y="3103545"/>
            <a:ext cx="56849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32831" y="3103545"/>
            <a:ext cx="208447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41278" y="3103545"/>
            <a:ext cx="0" cy="85273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41278" y="3956283"/>
            <a:ext cx="36004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77588" y="5036418"/>
            <a:ext cx="426369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41278" y="3956283"/>
            <a:ext cx="0" cy="1080135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41278" y="3956283"/>
            <a:ext cx="36004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07715" y="3956283"/>
            <a:ext cx="56849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82599" y="3956283"/>
            <a:ext cx="56849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4122" y="3274093"/>
            <a:ext cx="1042235" cy="530592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24849" y="1758114"/>
            <a:ext cx="852738" cy="492693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24849" y="3274093"/>
            <a:ext cx="852738" cy="492693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24849" y="4790072"/>
            <a:ext cx="852738" cy="492693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V</a:t>
            </a:r>
          </a:p>
        </p:txBody>
      </p:sp>
      <p:sp>
        <p:nvSpPr>
          <p:cNvPr id="30" name="Oval 29"/>
          <p:cNvSpPr/>
          <p:nvPr/>
        </p:nvSpPr>
        <p:spPr>
          <a:xfrm>
            <a:off x="3840828" y="2800350"/>
            <a:ext cx="606391" cy="606391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5015712" y="2800350"/>
            <a:ext cx="606391" cy="606391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596" y="2819299"/>
            <a:ext cx="1042235" cy="56849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Softmax</a:t>
            </a:r>
          </a:p>
        </p:txBody>
      </p:sp>
      <p:sp>
        <p:nvSpPr>
          <p:cNvPr id="33" name="Oval 32"/>
          <p:cNvSpPr/>
          <p:nvPr/>
        </p:nvSpPr>
        <p:spPr>
          <a:xfrm>
            <a:off x="7801323" y="3653088"/>
            <a:ext cx="606391" cy="606391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x</a:t>
            </a:r>
          </a:p>
        </p:txBody>
      </p:sp>
      <p:sp>
        <p:nvSpPr>
          <p:cNvPr id="34" name="Oval 33"/>
          <p:cNvSpPr/>
          <p:nvPr/>
        </p:nvSpPr>
        <p:spPr>
          <a:xfrm>
            <a:off x="8976207" y="3653088"/>
            <a:ext cx="606391" cy="606391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5" name="Cube 34"/>
          <p:cNvSpPr/>
          <p:nvPr/>
        </p:nvSpPr>
        <p:spPr>
          <a:xfrm>
            <a:off x="10151091" y="3634138"/>
            <a:ext cx="1326481" cy="644291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 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ounded Rectangle 12"/>
          <p:cNvSpPr/>
          <p:nvPr/>
        </p:nvSpPr>
        <p:spPr>
          <a:xfrm>
            <a:off x="5167915" y="841808"/>
            <a:ext cx="1855864" cy="5357262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363">
                <a:solidFill>
                  <a:srgbClr val="6C8EBF"/>
                </a:solidFill>
                <a:latin typeface="Arial"/>
              </a:rPr>
              <a:t>ResNet Basic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resnet-block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621271"/>
            <a:ext cx="0" cy="29693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289383"/>
            <a:ext cx="0" cy="29693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883259"/>
            <a:ext cx="0" cy="27219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452391"/>
            <a:ext cx="0" cy="29693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4120502"/>
            <a:ext cx="0" cy="29693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714379"/>
            <a:ext cx="0" cy="24744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5382490"/>
            <a:ext cx="0" cy="27219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90744" y="1448057"/>
            <a:ext cx="30931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00055" y="1448057"/>
            <a:ext cx="0" cy="372410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306178" y="5172159"/>
            <a:ext cx="59387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00950" y="1274843"/>
            <a:ext cx="989794" cy="346428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69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5" name="Cube 14"/>
          <p:cNvSpPr/>
          <p:nvPr/>
        </p:nvSpPr>
        <p:spPr>
          <a:xfrm>
            <a:off x="5415363" y="1918210"/>
            <a:ext cx="1360967" cy="371172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71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38067" y="2586321"/>
            <a:ext cx="915559" cy="29693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69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8067" y="3155453"/>
            <a:ext cx="915559" cy="296938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69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18" name="Cube 17"/>
          <p:cNvSpPr/>
          <p:nvPr/>
        </p:nvSpPr>
        <p:spPr>
          <a:xfrm>
            <a:off x="5415363" y="3749329"/>
            <a:ext cx="1360967" cy="371172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71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8067" y="4417441"/>
            <a:ext cx="915559" cy="29693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69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0" name="Oval 19"/>
          <p:cNvSpPr/>
          <p:nvPr/>
        </p:nvSpPr>
        <p:spPr>
          <a:xfrm>
            <a:off x="5885516" y="4961828"/>
            <a:ext cx="420662" cy="42066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8067" y="5654684"/>
            <a:ext cx="915559" cy="296938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69">
                <a:solidFill>
                  <a:srgbClr val="333333"/>
                </a:solidFill>
                <a:latin typeface="Arial"/>
              </a:rPr>
              <a:t>ReLU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5367827" y="781031"/>
            <a:ext cx="1456039" cy="5478816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028">
                <a:solidFill>
                  <a:srgbClr val="6C8EBF"/>
                </a:solidFill>
                <a:latin typeface="Arial"/>
              </a:rPr>
              <a:t>ResNet Bottleneck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resnet-bottleneck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369047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1873061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321073"/>
            <a:ext cx="0" cy="20533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750418"/>
            <a:ext cx="0" cy="22400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3254432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3702444"/>
            <a:ext cx="0" cy="20533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4131790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4635803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5083816"/>
            <a:ext cx="0" cy="18667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5587829"/>
            <a:ext cx="0" cy="224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9191" y="1238377"/>
            <a:ext cx="233339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2530" y="1238377"/>
            <a:ext cx="0" cy="4190781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254518" y="5429158"/>
            <a:ext cx="44801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22504" y="1107707"/>
            <a:ext cx="746687" cy="261340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8" name="Cube 17"/>
          <p:cNvSpPr/>
          <p:nvPr/>
        </p:nvSpPr>
        <p:spPr>
          <a:xfrm>
            <a:off x="5554499" y="1593053"/>
            <a:ext cx="1082696" cy="28000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08">
                <a:solidFill>
                  <a:srgbClr val="333333"/>
                </a:solidFill>
                <a:latin typeface="Arial"/>
              </a:rPr>
              <a:t>Conv 1x1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41171" y="2097067"/>
            <a:ext cx="709352" cy="22400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1171" y="2526412"/>
            <a:ext cx="709352" cy="224006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21" name="Cube 20"/>
          <p:cNvSpPr/>
          <p:nvPr/>
        </p:nvSpPr>
        <p:spPr>
          <a:xfrm>
            <a:off x="5554499" y="2974425"/>
            <a:ext cx="1082696" cy="28000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08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1171" y="3478438"/>
            <a:ext cx="709352" cy="22400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1171" y="3907783"/>
            <a:ext cx="709352" cy="224006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24" name="Cube 23"/>
          <p:cNvSpPr/>
          <p:nvPr/>
        </p:nvSpPr>
        <p:spPr>
          <a:xfrm>
            <a:off x="5554499" y="4355796"/>
            <a:ext cx="1082696" cy="28000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08">
                <a:solidFill>
                  <a:srgbClr val="333333"/>
                </a:solidFill>
                <a:latin typeface="Arial"/>
              </a:rPr>
              <a:t>Conv 1x1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41171" y="4859809"/>
            <a:ext cx="709352" cy="22400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81">
                <a:solidFill>
                  <a:srgbClr val="333333"/>
                </a:solidFill>
                <a:latin typeface="Arial"/>
              </a:rPr>
              <a:t>BN</a:t>
            </a:r>
          </a:p>
        </p:txBody>
      </p:sp>
      <p:sp>
        <p:nvSpPr>
          <p:cNvPr id="26" name="Oval 25"/>
          <p:cNvSpPr/>
          <p:nvPr/>
        </p:nvSpPr>
        <p:spPr>
          <a:xfrm>
            <a:off x="5937176" y="5270487"/>
            <a:ext cx="317342" cy="31734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22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7" name="Cube 26"/>
          <p:cNvSpPr/>
          <p:nvPr/>
        </p:nvSpPr>
        <p:spPr>
          <a:xfrm>
            <a:off x="5703836" y="5811835"/>
            <a:ext cx="784021" cy="26134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55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7138775" y="3341396"/>
            <a:ext cx="3097450" cy="1253303"/>
          </a:xfrm>
          <a:prstGeom prst="roundRect">
            <a:avLst/>
          </a:prstGeom>
          <a:noFill/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lIns="18288" rIns="18288"/>
          <a:lstStyle/>
          <a:p>
            <a:pPr algn="ctr"/>
            <a:r>
              <a:rPr sz="1600">
                <a:solidFill>
                  <a:srgbClr val="82B366"/>
                </a:solidFill>
                <a:latin typeface="Arial"/>
              </a:rPr>
              <a:t>Decoder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9274" y="3341396"/>
            <a:ext cx="3222780" cy="1253303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lIns="18288" rIns="18288"/>
          <a:lstStyle/>
          <a:p>
            <a:pPr algn="ctr"/>
            <a:r>
              <a:rPr sz="1600">
                <a:solidFill>
                  <a:srgbClr val="6C8EBF"/>
                </a:solidFill>
                <a:latin typeface="Arial"/>
              </a:rPr>
              <a:t>Encoder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seq2seq-attention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946517" y="3950144"/>
            <a:ext cx="59084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826473" y="2714744"/>
            <a:ext cx="3786767" cy="984739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38682" y="3950144"/>
            <a:ext cx="53713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77133" y="3950144"/>
            <a:ext cx="53713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15585" y="3950144"/>
            <a:ext cx="572938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59731" y="3950144"/>
            <a:ext cx="35808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88021" y="2714744"/>
            <a:ext cx="0" cy="98473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88021" y="2714744"/>
            <a:ext cx="4825219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64924" y="2714744"/>
            <a:ext cx="0" cy="98473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64924" y="2714744"/>
            <a:ext cx="274831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87090" y="3950144"/>
            <a:ext cx="519226" cy="210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0187" y="3950144"/>
            <a:ext cx="53713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48639" y="3950144"/>
            <a:ext cx="537130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559527" y="2983309"/>
            <a:ext cx="1038451" cy="71617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97978" y="2983309"/>
            <a:ext cx="1038451" cy="71617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7978" y="2983309"/>
            <a:ext cx="0" cy="71617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3214" y="3681579"/>
            <a:ext cx="1253303" cy="537130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 Seq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7360" y="3699483"/>
            <a:ext cx="501321" cy="501321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5812" y="3699483"/>
            <a:ext cx="501321" cy="501321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4263" y="3699483"/>
            <a:ext cx="501321" cy="501321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h3</a:t>
            </a:r>
          </a:p>
        </p:txBody>
      </p:sp>
      <p:sp>
        <p:nvSpPr>
          <p:cNvPr id="24" name="Cube 23"/>
          <p:cNvSpPr/>
          <p:nvPr/>
        </p:nvSpPr>
        <p:spPr>
          <a:xfrm>
            <a:off x="5697476" y="3663674"/>
            <a:ext cx="1253303" cy="537130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8866" y="3699483"/>
            <a:ext cx="501321" cy="501321"/>
          </a:xfrm>
          <a:prstGeom prst="roundRect">
            <a:avLst/>
          </a:prstGeom>
          <a:solidFill>
            <a:srgbClr val="D4F1F9"/>
          </a:solidFill>
          <a:ln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47317" y="3699483"/>
            <a:ext cx="501321" cy="501321"/>
          </a:xfrm>
          <a:prstGeom prst="roundRect">
            <a:avLst/>
          </a:prstGeom>
          <a:solidFill>
            <a:srgbClr val="D4F1F9"/>
          </a:solidFill>
          <a:ln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85769" y="3699483"/>
            <a:ext cx="501321" cy="501321"/>
          </a:xfrm>
          <a:prstGeom prst="roundRect">
            <a:avLst/>
          </a:prstGeom>
          <a:solidFill>
            <a:srgbClr val="D4F1F9"/>
          </a:solidFill>
          <a:ln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y3</a:t>
            </a:r>
          </a:p>
        </p:txBody>
      </p:sp>
      <p:sp>
        <p:nvSpPr>
          <p:cNvPr id="29" name="Cube 28"/>
          <p:cNvSpPr/>
          <p:nvPr/>
        </p:nvSpPr>
        <p:spPr>
          <a:xfrm>
            <a:off x="10424220" y="3681579"/>
            <a:ext cx="1074260" cy="53713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3240" y="2446179"/>
            <a:ext cx="1969476" cy="537130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Attention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3214784" y="1044526"/>
            <a:ext cx="2250830" cy="4951827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9673A6"/>
                </a:solidFill>
                <a:latin typeface="Arial"/>
              </a:rPr>
              <a:t>Shared Encoder (=)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siamese-network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647349" y="2967861"/>
            <a:ext cx="1692850" cy="37251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69407" y="4988206"/>
            <a:ext cx="1670792" cy="37791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40199" y="2575091"/>
            <a:ext cx="1463040" cy="382641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40199" y="4600838"/>
            <a:ext cx="1463040" cy="38264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78821" y="2957732"/>
            <a:ext cx="225083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03904" y="2957732"/>
            <a:ext cx="0" cy="101287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03904" y="3970606"/>
            <a:ext cx="45016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78821" y="4983480"/>
            <a:ext cx="225083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603904" y="3970606"/>
            <a:ext cx="0" cy="101287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03904" y="3970606"/>
            <a:ext cx="45016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89452" y="3970606"/>
            <a:ext cx="675249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be 13"/>
          <p:cNvSpPr/>
          <p:nvPr/>
        </p:nvSpPr>
        <p:spPr>
          <a:xfrm>
            <a:off x="1076494" y="2620107"/>
            <a:ext cx="1575581" cy="675249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 A</a:t>
            </a:r>
          </a:p>
        </p:txBody>
      </p:sp>
      <p:sp>
        <p:nvSpPr>
          <p:cNvPr id="15" name="Cube 14"/>
          <p:cNvSpPr/>
          <p:nvPr/>
        </p:nvSpPr>
        <p:spPr>
          <a:xfrm>
            <a:off x="1076494" y="4645855"/>
            <a:ext cx="1575581" cy="675249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 B</a:t>
            </a:r>
          </a:p>
        </p:txBody>
      </p:sp>
      <p:sp>
        <p:nvSpPr>
          <p:cNvPr id="17" name="Trapezoid 16"/>
          <p:cNvSpPr/>
          <p:nvPr/>
        </p:nvSpPr>
        <p:spPr>
          <a:xfrm>
            <a:off x="3552408" y="2575091"/>
            <a:ext cx="1575581" cy="765282"/>
          </a:xfrm>
          <a:prstGeom prst="trapezoid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18" name="Trapezoid 17"/>
          <p:cNvSpPr/>
          <p:nvPr/>
        </p:nvSpPr>
        <p:spPr>
          <a:xfrm>
            <a:off x="3552408" y="4600838"/>
            <a:ext cx="1575581" cy="765282"/>
          </a:xfrm>
          <a:prstGeom prst="trapezoid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3239" y="2620107"/>
            <a:ext cx="1575581" cy="675249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Emb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3239" y="4645855"/>
            <a:ext cx="1575581" cy="675249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Emb B</a:t>
            </a:r>
          </a:p>
        </p:txBody>
      </p:sp>
      <p:sp>
        <p:nvSpPr>
          <p:cNvPr id="21" name="Oval 20"/>
          <p:cNvSpPr/>
          <p:nvPr/>
        </p:nvSpPr>
        <p:spPr>
          <a:xfrm>
            <a:off x="8054070" y="3452915"/>
            <a:ext cx="1035382" cy="103538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|a-b|</a:t>
            </a:r>
          </a:p>
        </p:txBody>
      </p:sp>
      <p:sp>
        <p:nvSpPr>
          <p:cNvPr id="22" name="Cube 21"/>
          <p:cNvSpPr/>
          <p:nvPr/>
        </p:nvSpPr>
        <p:spPr>
          <a:xfrm>
            <a:off x="9764701" y="3587964"/>
            <a:ext cx="1350498" cy="76528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Similarity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stacked-gru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622442"/>
            <a:ext cx="0" cy="47449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769149"/>
            <a:ext cx="0" cy="47449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3915856"/>
            <a:ext cx="0" cy="47449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4983480"/>
            <a:ext cx="0" cy="47449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09598" y="989776"/>
            <a:ext cx="2372497" cy="632665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Sequence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4556" y="2096941"/>
            <a:ext cx="1502581" cy="672207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GRU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4556" y="3243648"/>
            <a:ext cx="1502581" cy="672207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GRU 2</a:t>
            </a:r>
          </a:p>
        </p:txBody>
      </p:sp>
      <p:sp>
        <p:nvSpPr>
          <p:cNvPr id="10" name="Cube 9"/>
          <p:cNvSpPr/>
          <p:nvPr/>
        </p:nvSpPr>
        <p:spPr>
          <a:xfrm>
            <a:off x="5502723" y="4390355"/>
            <a:ext cx="1186248" cy="593124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11" name="Cube 10"/>
          <p:cNvSpPr/>
          <p:nvPr/>
        </p:nvSpPr>
        <p:spPr>
          <a:xfrm>
            <a:off x="5305015" y="5457979"/>
            <a:ext cx="1581664" cy="593124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stacked-lstm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453999"/>
            <a:ext cx="0" cy="396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412827"/>
            <a:ext cx="0" cy="39675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3371656"/>
            <a:ext cx="0" cy="396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4330484"/>
            <a:ext cx="0" cy="39675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5223187"/>
            <a:ext cx="0" cy="396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03956" y="924990"/>
            <a:ext cx="1983783" cy="529008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62">
                <a:solidFill>
                  <a:srgbClr val="333333"/>
                </a:solidFill>
                <a:latin typeface="Arial"/>
              </a:rPr>
              <a:t>Sequence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8460" y="1850755"/>
            <a:ext cx="1454774" cy="562071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LSTM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8460" y="2809584"/>
            <a:ext cx="1454774" cy="562071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LSTM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8460" y="3768412"/>
            <a:ext cx="1454774" cy="562071"/>
          </a:xfrm>
          <a:prstGeom prst="roundRect">
            <a:avLst/>
          </a:prstGeom>
          <a:solidFill>
            <a:srgbClr val="D4EDDA"/>
          </a:solidFill>
          <a:ln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LSTM 3</a:t>
            </a:r>
          </a:p>
        </p:txBody>
      </p:sp>
      <p:sp>
        <p:nvSpPr>
          <p:cNvPr id="12" name="Cube 11"/>
          <p:cNvSpPr/>
          <p:nvPr/>
        </p:nvSpPr>
        <p:spPr>
          <a:xfrm>
            <a:off x="5599901" y="4727241"/>
            <a:ext cx="991891" cy="49594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FC</a:t>
            </a:r>
          </a:p>
        </p:txBody>
      </p:sp>
      <p:sp>
        <p:nvSpPr>
          <p:cNvPr id="13" name="Cube 12"/>
          <p:cNvSpPr/>
          <p:nvPr/>
        </p:nvSpPr>
        <p:spPr>
          <a:xfrm>
            <a:off x="5434586" y="5619943"/>
            <a:ext cx="1322522" cy="49594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" name="Rounded Rectangle 36"/>
          <p:cNvSpPr/>
          <p:nvPr/>
        </p:nvSpPr>
        <p:spPr>
          <a:xfrm>
            <a:off x="5579685" y="3635530"/>
            <a:ext cx="1032323" cy="2315753"/>
          </a:xfrm>
          <a:prstGeom prst="roundRect">
            <a:avLst/>
          </a:prstGeom>
          <a:noFill/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604">
                <a:solidFill>
                  <a:srgbClr val="666666"/>
                </a:solidFill>
                <a:latin typeface="Arial"/>
              </a:rPr>
              <a:t>Block 2 (SW-MSA + MLP)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9685" y="1222124"/>
            <a:ext cx="1032323" cy="2315753"/>
          </a:xfrm>
          <a:prstGeom prst="roundRect">
            <a:avLst/>
          </a:prstGeom>
          <a:noFill/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604">
                <a:solidFill>
                  <a:srgbClr val="666666"/>
                </a:solidFill>
                <a:latin typeface="Arial"/>
              </a:rPr>
              <a:t>Block 1 (W-MSA + MLP)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23884" y="1005894"/>
            <a:ext cx="1143926" cy="5301122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768">
                <a:solidFill>
                  <a:srgbClr val="9673A6"/>
                </a:solidFill>
                <a:latin typeface="Arial"/>
              </a:rPr>
              <a:t>Swin Blocks x2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swin-transformer-block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943118"/>
            <a:ext cx="0" cy="51616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1682485"/>
            <a:ext cx="0" cy="139503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031243"/>
            <a:ext cx="0" cy="153453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366050"/>
            <a:ext cx="0" cy="16740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2756659"/>
            <a:ext cx="0" cy="13950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3105417"/>
            <a:ext cx="0" cy="15345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3440225"/>
            <a:ext cx="0" cy="43246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4095890"/>
            <a:ext cx="0" cy="139503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4444648"/>
            <a:ext cx="0" cy="15345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4779456"/>
            <a:ext cx="0" cy="16740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5170065"/>
            <a:ext cx="0" cy="139503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5518823"/>
            <a:ext cx="0" cy="15345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5853631"/>
            <a:ext cx="0" cy="181354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74854" y="838490"/>
            <a:ext cx="209254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4108" y="838490"/>
            <a:ext cx="0" cy="1088125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200475" y="1926615"/>
            <a:ext cx="38363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74854" y="2275373"/>
            <a:ext cx="209254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4108" y="2275373"/>
            <a:ext cx="0" cy="725417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200475" y="3000790"/>
            <a:ext cx="38363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74854" y="3349548"/>
            <a:ext cx="209254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4108" y="3349548"/>
            <a:ext cx="0" cy="990473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200475" y="4340021"/>
            <a:ext cx="38363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74854" y="4688779"/>
            <a:ext cx="209254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4108" y="4688779"/>
            <a:ext cx="0" cy="725417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200475" y="5414196"/>
            <a:ext cx="383633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16841" y="733863"/>
            <a:ext cx="558012" cy="209254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3387" y="1459279"/>
            <a:ext cx="864919" cy="223205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W-MSA</a:t>
            </a:r>
          </a:p>
        </p:txBody>
      </p:sp>
      <p:sp>
        <p:nvSpPr>
          <p:cNvPr id="32" name="Oval 31"/>
          <p:cNvSpPr/>
          <p:nvPr/>
        </p:nvSpPr>
        <p:spPr>
          <a:xfrm>
            <a:off x="5991220" y="1821988"/>
            <a:ext cx="209254" cy="20925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8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16841" y="2184696"/>
            <a:ext cx="558012" cy="181354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3387" y="2533454"/>
            <a:ext cx="864919" cy="223205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MLP</a:t>
            </a:r>
          </a:p>
        </p:txBody>
      </p:sp>
      <p:sp>
        <p:nvSpPr>
          <p:cNvPr id="35" name="Oval 34"/>
          <p:cNvSpPr/>
          <p:nvPr/>
        </p:nvSpPr>
        <p:spPr>
          <a:xfrm>
            <a:off x="5991220" y="2896163"/>
            <a:ext cx="209254" cy="20925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8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16841" y="3258871"/>
            <a:ext cx="558012" cy="181354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3387" y="3872685"/>
            <a:ext cx="864919" cy="223205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SW-MSA</a:t>
            </a:r>
          </a:p>
        </p:txBody>
      </p:sp>
      <p:sp>
        <p:nvSpPr>
          <p:cNvPr id="39" name="Oval 38"/>
          <p:cNvSpPr/>
          <p:nvPr/>
        </p:nvSpPr>
        <p:spPr>
          <a:xfrm>
            <a:off x="5991220" y="4235393"/>
            <a:ext cx="209254" cy="20925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8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16841" y="4598102"/>
            <a:ext cx="558012" cy="181354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3387" y="4946860"/>
            <a:ext cx="864919" cy="223205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MLP</a:t>
            </a:r>
          </a:p>
        </p:txBody>
      </p:sp>
      <p:sp>
        <p:nvSpPr>
          <p:cNvPr id="42" name="Oval 41"/>
          <p:cNvSpPr/>
          <p:nvPr/>
        </p:nvSpPr>
        <p:spPr>
          <a:xfrm>
            <a:off x="5991220" y="5309568"/>
            <a:ext cx="209254" cy="20925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8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6841" y="5672277"/>
            <a:ext cx="558012" cy="181354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16841" y="6034985"/>
            <a:ext cx="558012" cy="209254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659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5816714" y="1162250"/>
            <a:ext cx="1578543" cy="4745254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061">
                <a:solidFill>
                  <a:srgbClr val="9673A6"/>
                </a:solidFill>
                <a:latin typeface="Arial"/>
              </a:rPr>
              <a:t>Decoder Block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6437" y="786865"/>
            <a:ext cx="2598821" cy="5467149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transformer-decoder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81961" y="3135429"/>
            <a:ext cx="327259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605986" y="1807143"/>
            <a:ext cx="0" cy="19250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605986" y="2288406"/>
            <a:ext cx="0" cy="211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05986" y="2750418"/>
            <a:ext cx="0" cy="23100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05986" y="3289433"/>
            <a:ext cx="0" cy="19250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5986" y="3770696"/>
            <a:ext cx="0" cy="211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05986" y="4232709"/>
            <a:ext cx="0" cy="2310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05986" y="4771724"/>
            <a:ext cx="0" cy="192505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05986" y="5252987"/>
            <a:ext cx="0" cy="21175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39123" y="931244"/>
            <a:ext cx="173255" cy="7700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12378" y="1008246"/>
            <a:ext cx="0" cy="1135781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750365" y="2144027"/>
            <a:ext cx="46201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90997" y="2625290"/>
            <a:ext cx="24063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31628" y="2625290"/>
            <a:ext cx="0" cy="100102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750365" y="3626317"/>
            <a:ext cx="48126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90997" y="4107581"/>
            <a:ext cx="24063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31628" y="4107581"/>
            <a:ext cx="0" cy="1001027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50365" y="5108608"/>
            <a:ext cx="48126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604793" y="1095836"/>
            <a:ext cx="1193" cy="42855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05986" y="5715000"/>
            <a:ext cx="3465" cy="28086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849" y="786865"/>
            <a:ext cx="866273" cy="288757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96437" y="3000675"/>
            <a:ext cx="885524" cy="269507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Encoder 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9220" y="1499134"/>
            <a:ext cx="1193532" cy="308008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Masked Self-Attn</a:t>
            </a:r>
          </a:p>
        </p:txBody>
      </p:sp>
      <p:sp>
        <p:nvSpPr>
          <p:cNvPr id="28" name="Oval 27"/>
          <p:cNvSpPr/>
          <p:nvPr/>
        </p:nvSpPr>
        <p:spPr>
          <a:xfrm>
            <a:off x="6461607" y="1999648"/>
            <a:ext cx="288757" cy="288757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64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0976" y="2500162"/>
            <a:ext cx="770021" cy="25025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09220" y="2981425"/>
            <a:ext cx="1193532" cy="308008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Cross-Attn</a:t>
            </a:r>
          </a:p>
        </p:txBody>
      </p:sp>
      <p:sp>
        <p:nvSpPr>
          <p:cNvPr id="31" name="Oval 30"/>
          <p:cNvSpPr/>
          <p:nvPr/>
        </p:nvSpPr>
        <p:spPr>
          <a:xfrm>
            <a:off x="6461607" y="3481938"/>
            <a:ext cx="288757" cy="288757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64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0976" y="3982452"/>
            <a:ext cx="770021" cy="25025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09220" y="4463715"/>
            <a:ext cx="1193532" cy="308008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Feed Forward</a:t>
            </a:r>
          </a:p>
        </p:txBody>
      </p:sp>
      <p:sp>
        <p:nvSpPr>
          <p:cNvPr id="34" name="Oval 33"/>
          <p:cNvSpPr/>
          <p:nvPr/>
        </p:nvSpPr>
        <p:spPr>
          <a:xfrm>
            <a:off x="6461607" y="4964229"/>
            <a:ext cx="288757" cy="288757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64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0976" y="5464743"/>
            <a:ext cx="770021" cy="250256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9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36" name="Cube 35"/>
          <p:cNvSpPr/>
          <p:nvPr/>
        </p:nvSpPr>
        <p:spPr>
          <a:xfrm>
            <a:off x="6172849" y="5965256"/>
            <a:ext cx="866273" cy="288757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85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5133321" y="1248877"/>
            <a:ext cx="1925052" cy="4504623"/>
          </a:xfrm>
          <a:prstGeom prst="roundRect">
            <a:avLst/>
          </a:prstGeom>
          <a:noFill/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414">
                <a:solidFill>
                  <a:srgbClr val="9673A6"/>
                </a:solidFill>
                <a:latin typeface="Arial"/>
              </a:rPr>
              <a:t>Encoder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transformer-encoder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1236044"/>
            <a:ext cx="0" cy="462012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2134402"/>
            <a:ext cx="0" cy="25667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776086"/>
            <a:ext cx="0" cy="33367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443437"/>
            <a:ext cx="0" cy="3080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4187791"/>
            <a:ext cx="0" cy="25667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4829475"/>
            <a:ext cx="0" cy="33367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5496827"/>
            <a:ext cx="0" cy="30800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09194" y="1043538"/>
            <a:ext cx="320843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30037" y="1043538"/>
            <a:ext cx="0" cy="1540043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288352" y="2583581"/>
            <a:ext cx="6416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9194" y="3276600"/>
            <a:ext cx="320843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30037" y="3276600"/>
            <a:ext cx="0" cy="136037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288352" y="4636970"/>
            <a:ext cx="6416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82500" y="851033"/>
            <a:ext cx="1026694" cy="385010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12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9994" y="1698056"/>
            <a:ext cx="1411705" cy="436345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12">
                <a:solidFill>
                  <a:srgbClr val="333333"/>
                </a:solidFill>
                <a:latin typeface="Arial"/>
              </a:rPr>
              <a:t>Multi-Head Attn</a:t>
            </a:r>
          </a:p>
        </p:txBody>
      </p:sp>
      <p:sp>
        <p:nvSpPr>
          <p:cNvPr id="19" name="Oval 18"/>
          <p:cNvSpPr/>
          <p:nvPr/>
        </p:nvSpPr>
        <p:spPr>
          <a:xfrm>
            <a:off x="5903342" y="2391075"/>
            <a:ext cx="385010" cy="38501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2500" y="3109762"/>
            <a:ext cx="1026694" cy="333675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12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9994" y="3751446"/>
            <a:ext cx="1411705" cy="436345"/>
          </a:xfrm>
          <a:prstGeom prst="roundRect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12">
                <a:solidFill>
                  <a:srgbClr val="333333"/>
                </a:solidFill>
                <a:latin typeface="Arial"/>
              </a:rPr>
              <a:t>Feed Forward</a:t>
            </a:r>
          </a:p>
        </p:txBody>
      </p:sp>
      <p:sp>
        <p:nvSpPr>
          <p:cNvPr id="22" name="Oval 21"/>
          <p:cNvSpPr/>
          <p:nvPr/>
        </p:nvSpPr>
        <p:spPr>
          <a:xfrm>
            <a:off x="5903342" y="4444465"/>
            <a:ext cx="385010" cy="385010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82500" y="5163151"/>
            <a:ext cx="1026694" cy="333675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12">
                <a:solidFill>
                  <a:srgbClr val="333333"/>
                </a:solidFill>
                <a:latin typeface="Arial"/>
              </a:rPr>
              <a:t>LN</a:t>
            </a:r>
          </a:p>
        </p:txBody>
      </p:sp>
      <p:sp>
        <p:nvSpPr>
          <p:cNvPr id="24" name="Cube 23"/>
          <p:cNvSpPr/>
          <p:nvPr/>
        </p:nvSpPr>
        <p:spPr>
          <a:xfrm>
            <a:off x="5582500" y="5804835"/>
            <a:ext cx="1026694" cy="385010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13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Rectangle 24"/>
          <p:cNvSpPr/>
          <p:nvPr/>
        </p:nvSpPr>
        <p:spPr>
          <a:xfrm>
            <a:off x="2986887" y="855617"/>
            <a:ext cx="6217920" cy="5329645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u-net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86887" y="1561011"/>
            <a:ext cx="4611189" cy="130628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86887" y="2945674"/>
            <a:ext cx="4611189" cy="1045028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986887" y="4330337"/>
            <a:ext cx="4611189" cy="783771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09401" y="1247502"/>
            <a:ext cx="0" cy="3135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09401" y="2005148"/>
            <a:ext cx="0" cy="3135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09401" y="2632165"/>
            <a:ext cx="0" cy="3135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09401" y="3389811"/>
            <a:ext cx="0" cy="3135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09401" y="4016828"/>
            <a:ext cx="0" cy="313509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09401" y="4774474"/>
            <a:ext cx="0" cy="31350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35973" y="5244737"/>
            <a:ext cx="32657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62544" y="5244737"/>
            <a:ext cx="0" cy="705394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62544" y="5950131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95401" y="5283925"/>
            <a:ext cx="391886" cy="66620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36373" y="5283925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67893" y="5283925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36373" y="4160520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67893" y="4160520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36373" y="3037114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67893" y="3037114"/>
            <a:ext cx="39188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82293" y="2318657"/>
            <a:ext cx="0" cy="49638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187287" y="2841171"/>
            <a:ext cx="1972492" cy="109728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87287" y="3964577"/>
            <a:ext cx="1972492" cy="109728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be 25"/>
          <p:cNvSpPr/>
          <p:nvPr/>
        </p:nvSpPr>
        <p:spPr>
          <a:xfrm>
            <a:off x="3052201" y="855617"/>
            <a:ext cx="914400" cy="391885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4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7" name="Cube 26"/>
          <p:cNvSpPr/>
          <p:nvPr/>
        </p:nvSpPr>
        <p:spPr>
          <a:xfrm>
            <a:off x="2986887" y="1561011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Enc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2830" y="2318657"/>
            <a:ext cx="653142" cy="313508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34">
                <a:solidFill>
                  <a:srgbClr val="333333"/>
                </a:solidFill>
                <a:latin typeface="Arial"/>
              </a:rPr>
              <a:t>Pool</a:t>
            </a:r>
          </a:p>
        </p:txBody>
      </p:sp>
      <p:sp>
        <p:nvSpPr>
          <p:cNvPr id="29" name="Cube 28"/>
          <p:cNvSpPr/>
          <p:nvPr/>
        </p:nvSpPr>
        <p:spPr>
          <a:xfrm>
            <a:off x="2986887" y="2945674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Enc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2830" y="3703320"/>
            <a:ext cx="653142" cy="313508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34">
                <a:solidFill>
                  <a:srgbClr val="333333"/>
                </a:solidFill>
                <a:latin typeface="Arial"/>
              </a:rPr>
              <a:t>Pool</a:t>
            </a:r>
          </a:p>
        </p:txBody>
      </p:sp>
      <p:sp>
        <p:nvSpPr>
          <p:cNvPr id="31" name="Cube 30"/>
          <p:cNvSpPr/>
          <p:nvPr/>
        </p:nvSpPr>
        <p:spPr>
          <a:xfrm>
            <a:off x="2986887" y="4330337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Enc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830" y="5087982"/>
            <a:ext cx="653142" cy="313508"/>
          </a:xfrm>
          <a:prstGeom prst="roundRect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234">
                <a:solidFill>
                  <a:srgbClr val="333333"/>
                </a:solidFill>
                <a:latin typeface="Arial"/>
              </a:rPr>
              <a:t>Pool</a:t>
            </a:r>
          </a:p>
        </p:txBody>
      </p:sp>
      <p:sp>
        <p:nvSpPr>
          <p:cNvPr id="33" name="Cube 32"/>
          <p:cNvSpPr/>
          <p:nvPr/>
        </p:nvSpPr>
        <p:spPr>
          <a:xfrm>
            <a:off x="4554430" y="5715000"/>
            <a:ext cx="1240971" cy="470262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Bottleneck</a:t>
            </a:r>
          </a:p>
        </p:txBody>
      </p:sp>
      <p:sp>
        <p:nvSpPr>
          <p:cNvPr id="34" name="Cube 33"/>
          <p:cNvSpPr/>
          <p:nvPr/>
        </p:nvSpPr>
        <p:spPr>
          <a:xfrm>
            <a:off x="6187287" y="5087982"/>
            <a:ext cx="849085" cy="391885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35" name="Oval 34"/>
          <p:cNvSpPr/>
          <p:nvPr/>
        </p:nvSpPr>
        <p:spPr>
          <a:xfrm>
            <a:off x="7428259" y="5114108"/>
            <a:ext cx="339634" cy="339634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4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6" name="Cube 35"/>
          <p:cNvSpPr/>
          <p:nvPr/>
        </p:nvSpPr>
        <p:spPr>
          <a:xfrm>
            <a:off x="8159779" y="5061857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Dec 3</a:t>
            </a:r>
          </a:p>
        </p:txBody>
      </p:sp>
      <p:sp>
        <p:nvSpPr>
          <p:cNvPr id="37" name="Cube 36"/>
          <p:cNvSpPr/>
          <p:nvPr/>
        </p:nvSpPr>
        <p:spPr>
          <a:xfrm>
            <a:off x="6187287" y="3964577"/>
            <a:ext cx="849085" cy="391885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38" name="Oval 37"/>
          <p:cNvSpPr/>
          <p:nvPr/>
        </p:nvSpPr>
        <p:spPr>
          <a:xfrm>
            <a:off x="7428259" y="3990702"/>
            <a:ext cx="339634" cy="339634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4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39" name="Cube 38"/>
          <p:cNvSpPr/>
          <p:nvPr/>
        </p:nvSpPr>
        <p:spPr>
          <a:xfrm>
            <a:off x="8159779" y="3938451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Dec 2</a:t>
            </a:r>
          </a:p>
        </p:txBody>
      </p:sp>
      <p:sp>
        <p:nvSpPr>
          <p:cNvPr id="40" name="Cube 39"/>
          <p:cNvSpPr/>
          <p:nvPr/>
        </p:nvSpPr>
        <p:spPr>
          <a:xfrm>
            <a:off x="6187287" y="2841171"/>
            <a:ext cx="849085" cy="391885"/>
          </a:xfrm>
          <a:prstGeom prst="cube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Up</a:t>
            </a:r>
          </a:p>
        </p:txBody>
      </p:sp>
      <p:sp>
        <p:nvSpPr>
          <p:cNvPr id="41" name="Oval 40"/>
          <p:cNvSpPr/>
          <p:nvPr/>
        </p:nvSpPr>
        <p:spPr>
          <a:xfrm>
            <a:off x="7428259" y="2867297"/>
            <a:ext cx="339634" cy="339634"/>
          </a:xfrm>
          <a:prstGeom prst="ellipse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40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42" name="Cube 41"/>
          <p:cNvSpPr/>
          <p:nvPr/>
        </p:nvSpPr>
        <p:spPr>
          <a:xfrm>
            <a:off x="8159779" y="2815045"/>
            <a:ext cx="1045028" cy="444137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Dec 1</a:t>
            </a:r>
          </a:p>
        </p:txBody>
      </p:sp>
      <p:sp>
        <p:nvSpPr>
          <p:cNvPr id="43" name="Cube 42"/>
          <p:cNvSpPr/>
          <p:nvPr/>
        </p:nvSpPr>
        <p:spPr>
          <a:xfrm>
            <a:off x="8159779" y="1874519"/>
            <a:ext cx="1045028" cy="444137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37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6869675" y="2746611"/>
            <a:ext cx="3198489" cy="1547656"/>
          </a:xfrm>
          <a:prstGeom prst="roundRect">
            <a:avLst/>
          </a:prstGeom>
          <a:noFill/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82B366"/>
                </a:solidFill>
                <a:latin typeface="Arial"/>
              </a:rPr>
              <a:t>Decoder LSTM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4745" y="2763808"/>
            <a:ext cx="3164096" cy="1530459"/>
          </a:xfrm>
          <a:prstGeom prst="roundRect">
            <a:avLst/>
          </a:prstGeom>
          <a:noFill/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6C8EBF"/>
                </a:solidFill>
                <a:latin typeface="Arial"/>
              </a:rPr>
              <a:t>Encoder LSTM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9051" y="2746611"/>
            <a:ext cx="10833592" cy="1547656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untitled-upstream-entry-37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82783" y="3606420"/>
            <a:ext cx="515886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874918" y="3606420"/>
            <a:ext cx="515886" cy="0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390804" y="3348478"/>
            <a:ext cx="1822795" cy="326727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80162" y="3606420"/>
            <a:ext cx="5158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77540" y="3606420"/>
            <a:ext cx="5158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29484" y="3675205"/>
            <a:ext cx="5158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61255" y="3675205"/>
            <a:ext cx="5158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93026" y="3675205"/>
            <a:ext cx="44710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40126" y="3675205"/>
            <a:ext cx="68785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9051" y="3348478"/>
            <a:ext cx="1203732" cy="515885"/>
          </a:xfrm>
          <a:prstGeom prst="roundRect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 Seq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8669" y="3365674"/>
            <a:ext cx="481493" cy="481493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6047" y="3365674"/>
            <a:ext cx="481493" cy="481493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3425" y="3365674"/>
            <a:ext cx="481493" cy="481493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hT</a:t>
            </a:r>
          </a:p>
        </p:txBody>
      </p:sp>
      <p:sp>
        <p:nvSpPr>
          <p:cNvPr id="18" name="Cube 17"/>
          <p:cNvSpPr/>
          <p:nvPr/>
        </p:nvSpPr>
        <p:spPr>
          <a:xfrm>
            <a:off x="5390804" y="3348478"/>
            <a:ext cx="1203732" cy="515885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3599" y="3434459"/>
            <a:ext cx="515885" cy="481493"/>
          </a:xfrm>
          <a:prstGeom prst="roundRect">
            <a:avLst/>
          </a:prstGeom>
          <a:solidFill>
            <a:srgbClr val="D4F1F9"/>
          </a:solidFill>
          <a:ln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5369" y="3434459"/>
            <a:ext cx="515885" cy="481493"/>
          </a:xfrm>
          <a:prstGeom prst="roundRect">
            <a:avLst/>
          </a:prstGeom>
          <a:solidFill>
            <a:srgbClr val="D4F1F9"/>
          </a:solidFill>
          <a:ln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7140" y="3434459"/>
            <a:ext cx="515885" cy="481493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yT</a:t>
            </a:r>
          </a:p>
        </p:txBody>
      </p:sp>
      <p:sp>
        <p:nvSpPr>
          <p:cNvPr id="23" name="Cube 22"/>
          <p:cNvSpPr/>
          <p:nvPr/>
        </p:nvSpPr>
        <p:spPr>
          <a:xfrm>
            <a:off x="10308911" y="3417262"/>
            <a:ext cx="1203732" cy="515885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 Seq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Rounded Rectangle 30"/>
          <p:cNvSpPr/>
          <p:nvPr/>
        </p:nvSpPr>
        <p:spPr>
          <a:xfrm>
            <a:off x="3894139" y="1166232"/>
            <a:ext cx="4193730" cy="1143744"/>
          </a:xfrm>
          <a:prstGeom prst="roundRect">
            <a:avLst/>
          </a:prstGeom>
          <a:noFill/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B85450"/>
                </a:solidFill>
                <a:latin typeface="Arial"/>
              </a:rPr>
              <a:t>Loss: KL + Recon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4777" y="975608"/>
            <a:ext cx="10122139" cy="5089663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34777" y="3568096"/>
            <a:ext cx="1658430" cy="403776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429439" y="5169338"/>
            <a:ext cx="0" cy="438435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12890" y="2691225"/>
            <a:ext cx="895934" cy="121999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12890" y="3911219"/>
            <a:ext cx="895934" cy="76249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76319" y="4921527"/>
            <a:ext cx="705309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52258" y="2939036"/>
            <a:ext cx="198249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34748" y="2939036"/>
            <a:ext cx="0" cy="991245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4748" y="3930281"/>
            <a:ext cx="457498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7251" y="4921527"/>
            <a:ext cx="457497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34748" y="3930281"/>
            <a:ext cx="0" cy="991246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4748" y="3930281"/>
            <a:ext cx="457498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87869" y="3930281"/>
            <a:ext cx="57187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42571" y="2195602"/>
            <a:ext cx="0" cy="74343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34777" y="975608"/>
            <a:ext cx="476560" cy="259248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11337" y="975608"/>
            <a:ext cx="545185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63187" y="975608"/>
            <a:ext cx="0" cy="76249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08484" y="1985915"/>
            <a:ext cx="438436" cy="163936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744746" y="1985915"/>
            <a:ext cx="2802174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079114" y="3929671"/>
            <a:ext cx="1029370" cy="419983"/>
          </a:xfrm>
          <a:prstGeom prst="line">
            <a:avLst/>
          </a:prstGeom>
          <a:ln w="1270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be 22"/>
          <p:cNvSpPr/>
          <p:nvPr/>
        </p:nvSpPr>
        <p:spPr>
          <a:xfrm>
            <a:off x="1034777" y="3568096"/>
            <a:ext cx="1143744" cy="609997"/>
          </a:xfrm>
          <a:prstGeom prst="cube">
            <a:avLst/>
          </a:prstGeom>
          <a:solidFill>
            <a:srgbClr val="F8CECC"/>
          </a:solidFill>
          <a:ln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Input</a:t>
            </a:r>
          </a:p>
        </p:txBody>
      </p:sp>
      <p:sp>
        <p:nvSpPr>
          <p:cNvPr id="24" name="Trapezoid 23"/>
          <p:cNvSpPr/>
          <p:nvPr/>
        </p:nvSpPr>
        <p:spPr>
          <a:xfrm>
            <a:off x="2369146" y="3510908"/>
            <a:ext cx="1524992" cy="838746"/>
          </a:xfrm>
          <a:prstGeom prst="trapezoid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25" name="Cube 24"/>
          <p:cNvSpPr/>
          <p:nvPr/>
        </p:nvSpPr>
        <p:spPr>
          <a:xfrm>
            <a:off x="4408824" y="4673715"/>
            <a:ext cx="1067494" cy="49562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sigma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52879" y="5607773"/>
            <a:ext cx="953120" cy="457497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500">
                <a:solidFill>
                  <a:srgbClr val="333333"/>
                </a:solidFill>
                <a:latin typeface="Arial"/>
              </a:rPr>
              <a:t>eps</a:t>
            </a:r>
          </a:p>
        </p:txBody>
      </p:sp>
      <p:sp>
        <p:nvSpPr>
          <p:cNvPr id="27" name="Oval 26"/>
          <p:cNvSpPr/>
          <p:nvPr/>
        </p:nvSpPr>
        <p:spPr>
          <a:xfrm>
            <a:off x="6181628" y="4673715"/>
            <a:ext cx="495622" cy="49562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*</a:t>
            </a:r>
          </a:p>
        </p:txBody>
      </p:sp>
      <p:sp>
        <p:nvSpPr>
          <p:cNvPr id="28" name="Oval 27"/>
          <p:cNvSpPr/>
          <p:nvPr/>
        </p:nvSpPr>
        <p:spPr>
          <a:xfrm>
            <a:off x="7592246" y="3682470"/>
            <a:ext cx="495622" cy="495622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29" name="Trapezoid 28"/>
          <p:cNvSpPr/>
          <p:nvPr/>
        </p:nvSpPr>
        <p:spPr>
          <a:xfrm>
            <a:off x="8316618" y="3510908"/>
            <a:ext cx="1524992" cy="838746"/>
          </a:xfrm>
          <a:prstGeom prst="trapezoid">
            <a:avLst/>
          </a:prstGeom>
          <a:solidFill>
            <a:srgbClr val="D5E8D4"/>
          </a:solidFill>
          <a:ln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sp>
        <p:nvSpPr>
          <p:cNvPr id="30" name="Cube 29"/>
          <p:cNvSpPr/>
          <p:nvPr/>
        </p:nvSpPr>
        <p:spPr>
          <a:xfrm>
            <a:off x="10108484" y="3625283"/>
            <a:ext cx="1048432" cy="609997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5387" y="1776229"/>
            <a:ext cx="1334368" cy="419373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KL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628" y="1776229"/>
            <a:ext cx="1563117" cy="419373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Recon</a:t>
            </a:r>
          </a:p>
        </p:txBody>
      </p:sp>
      <p:sp>
        <p:nvSpPr>
          <p:cNvPr id="34" name="Cube 33"/>
          <p:cNvSpPr/>
          <p:nvPr/>
        </p:nvSpPr>
        <p:spPr>
          <a:xfrm>
            <a:off x="4408824" y="2691225"/>
            <a:ext cx="1067494" cy="49562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mu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4584219" y="1026253"/>
            <a:ext cx="3023256" cy="4988372"/>
          </a:xfrm>
          <a:prstGeom prst="roundRect">
            <a:avLst/>
          </a:prstGeom>
          <a:noFill/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8288" rIns="18288"/>
          <a:lstStyle/>
          <a:p>
            <a:pPr algn="ctr"/>
            <a:r>
              <a:rPr sz="1600">
                <a:solidFill>
                  <a:srgbClr val="999999"/>
                </a:solidFill>
                <a:latin typeface="Arial"/>
              </a:rPr>
              <a:t>VGG Block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vgg-block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7" y="2429908"/>
            <a:ext cx="0" cy="47508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5847" y="3423263"/>
            <a:ext cx="0" cy="51827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4589376"/>
            <a:ext cx="0" cy="47508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be 6"/>
          <p:cNvSpPr/>
          <p:nvPr/>
        </p:nvSpPr>
        <p:spPr>
          <a:xfrm>
            <a:off x="5016113" y="1782067"/>
            <a:ext cx="2159468" cy="64784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1628" y="2904991"/>
            <a:ext cx="1468438" cy="51827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ReLU</a:t>
            </a:r>
          </a:p>
        </p:txBody>
      </p:sp>
      <p:sp>
        <p:nvSpPr>
          <p:cNvPr id="9" name="Cube 8"/>
          <p:cNvSpPr/>
          <p:nvPr/>
        </p:nvSpPr>
        <p:spPr>
          <a:xfrm>
            <a:off x="5016113" y="3941536"/>
            <a:ext cx="2159468" cy="647840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Conv 3x3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1628" y="5064460"/>
            <a:ext cx="1468438" cy="518272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ReLU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73655" y="3540868"/>
            <a:ext cx="61284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16463" y="3540868"/>
            <a:ext cx="612843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20744" y="2539891"/>
            <a:ext cx="408562" cy="1000977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20744" y="3540868"/>
            <a:ext cx="408562" cy="96012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19580" y="3540868"/>
            <a:ext cx="61284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60248" y="3540868"/>
            <a:ext cx="1429966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13759" y="3540868"/>
            <a:ext cx="612842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689" y="3234446"/>
            <a:ext cx="1429965" cy="612842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Patch 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6497" y="3234446"/>
            <a:ext cx="1429965" cy="612842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7199" y="2294754"/>
            <a:ext cx="1123544" cy="490274"/>
          </a:xfrm>
          <a:prstGeom prst="roundRect">
            <a:avLst/>
          </a:prstGeom>
          <a:solidFill>
            <a:srgbClr val="E1D5E7"/>
          </a:solidFill>
          <a:ln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[CLS]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7199" y="4255851"/>
            <a:ext cx="1123544" cy="490274"/>
          </a:xfrm>
          <a:prstGeom prst="roundRect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Pos Enc</a:t>
            </a:r>
          </a:p>
        </p:txBody>
      </p:sp>
      <p:sp>
        <p:nvSpPr>
          <p:cNvPr id="14" name="Oval 13"/>
          <p:cNvSpPr/>
          <p:nvPr/>
        </p:nvSpPr>
        <p:spPr>
          <a:xfrm>
            <a:off x="4829306" y="3295731"/>
            <a:ext cx="490274" cy="490274"/>
          </a:xfrm>
          <a:prstGeom prst="ellipse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28142" y="2560320"/>
            <a:ext cx="2349229" cy="2001952"/>
          </a:xfrm>
          <a:prstGeom prst="roundRect">
            <a:avLst/>
          </a:prstGeom>
          <a:noFill/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lIns="18288" rIns="18288"/>
          <a:lstStyle/>
          <a:p>
            <a:pPr algn="ctr"/>
            <a:r>
              <a:rPr sz="1600">
                <a:solidFill>
                  <a:srgbClr val="666666"/>
                </a:solidFill>
                <a:latin typeface="Arial"/>
              </a:rPr>
              <a:t>Repeat xN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2422" y="3234446"/>
            <a:ext cx="1327825" cy="612842"/>
          </a:xfrm>
          <a:prstGeom prst="roundRect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Encoder</a:t>
            </a:r>
          </a:p>
        </p:txBody>
      </p:sp>
      <p:sp>
        <p:nvSpPr>
          <p:cNvPr id="17" name="Cube 16"/>
          <p:cNvSpPr/>
          <p:nvPr/>
        </p:nvSpPr>
        <p:spPr>
          <a:xfrm>
            <a:off x="8690214" y="3234446"/>
            <a:ext cx="1123544" cy="612842"/>
          </a:xfrm>
          <a:prstGeom prst="cube">
            <a:avLst/>
          </a:prstGeom>
          <a:solidFill>
            <a:srgbClr val="FFE6CC"/>
          </a:solidFill>
          <a:ln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MLP Head</a:t>
            </a:r>
          </a:p>
        </p:txBody>
      </p:sp>
      <p:sp>
        <p:nvSpPr>
          <p:cNvPr id="18" name="Cube 17"/>
          <p:cNvSpPr/>
          <p:nvPr/>
        </p:nvSpPr>
        <p:spPr>
          <a:xfrm>
            <a:off x="10426601" y="3234446"/>
            <a:ext cx="1021404" cy="612842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yolo-head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49015" y="1548967"/>
            <a:ext cx="41504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5431772" y="1258434"/>
            <a:ext cx="622570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431772" y="1258434"/>
            <a:ext cx="2448776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431772" y="1258434"/>
            <a:ext cx="4274982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49015" y="3624201"/>
            <a:ext cx="41504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431772" y="3333668"/>
            <a:ext cx="622570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431772" y="3333668"/>
            <a:ext cx="2448776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431772" y="3333668"/>
            <a:ext cx="4274982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49015" y="5699435"/>
            <a:ext cx="415047" cy="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31772" y="5408902"/>
            <a:ext cx="622570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431772" y="5408902"/>
            <a:ext cx="2448776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31772" y="5408902"/>
            <a:ext cx="4274982" cy="290533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be 14"/>
          <p:cNvSpPr/>
          <p:nvPr/>
        </p:nvSpPr>
        <p:spPr>
          <a:xfrm>
            <a:off x="1281304" y="1216930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Feature S1</a:t>
            </a:r>
          </a:p>
        </p:txBody>
      </p:sp>
      <p:sp>
        <p:nvSpPr>
          <p:cNvPr id="16" name="Cube 15"/>
          <p:cNvSpPr/>
          <p:nvPr/>
        </p:nvSpPr>
        <p:spPr>
          <a:xfrm>
            <a:off x="3564062" y="1216930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Pred Conv</a:t>
            </a:r>
          </a:p>
        </p:txBody>
      </p:sp>
      <p:sp>
        <p:nvSpPr>
          <p:cNvPr id="17" name="Cube 16"/>
          <p:cNvSpPr/>
          <p:nvPr/>
        </p:nvSpPr>
        <p:spPr>
          <a:xfrm>
            <a:off x="6054342" y="1009406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bbox</a:t>
            </a:r>
          </a:p>
        </p:txBody>
      </p:sp>
      <p:sp>
        <p:nvSpPr>
          <p:cNvPr id="18" name="Cube 17"/>
          <p:cNvSpPr/>
          <p:nvPr/>
        </p:nvSpPr>
        <p:spPr>
          <a:xfrm>
            <a:off x="7880548" y="1009406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obj</a:t>
            </a:r>
          </a:p>
        </p:txBody>
      </p:sp>
      <p:sp>
        <p:nvSpPr>
          <p:cNvPr id="19" name="Cube 18"/>
          <p:cNvSpPr/>
          <p:nvPr/>
        </p:nvSpPr>
        <p:spPr>
          <a:xfrm>
            <a:off x="9706754" y="1009406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class</a:t>
            </a:r>
          </a:p>
        </p:txBody>
      </p:sp>
      <p:sp>
        <p:nvSpPr>
          <p:cNvPr id="20" name="Cube 19"/>
          <p:cNvSpPr/>
          <p:nvPr/>
        </p:nvSpPr>
        <p:spPr>
          <a:xfrm>
            <a:off x="1281304" y="3292164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Feature S2</a:t>
            </a:r>
          </a:p>
        </p:txBody>
      </p:sp>
      <p:sp>
        <p:nvSpPr>
          <p:cNvPr id="21" name="Cube 20"/>
          <p:cNvSpPr/>
          <p:nvPr/>
        </p:nvSpPr>
        <p:spPr>
          <a:xfrm>
            <a:off x="3564062" y="3292164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Pred Conv</a:t>
            </a:r>
          </a:p>
        </p:txBody>
      </p:sp>
      <p:sp>
        <p:nvSpPr>
          <p:cNvPr id="22" name="Cube 21"/>
          <p:cNvSpPr/>
          <p:nvPr/>
        </p:nvSpPr>
        <p:spPr>
          <a:xfrm>
            <a:off x="6054342" y="3084640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bbox</a:t>
            </a:r>
          </a:p>
        </p:txBody>
      </p:sp>
      <p:sp>
        <p:nvSpPr>
          <p:cNvPr id="23" name="Cube 22"/>
          <p:cNvSpPr/>
          <p:nvPr/>
        </p:nvSpPr>
        <p:spPr>
          <a:xfrm>
            <a:off x="7880548" y="3084640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obj</a:t>
            </a:r>
          </a:p>
        </p:txBody>
      </p:sp>
      <p:sp>
        <p:nvSpPr>
          <p:cNvPr id="24" name="Cube 23"/>
          <p:cNvSpPr/>
          <p:nvPr/>
        </p:nvSpPr>
        <p:spPr>
          <a:xfrm>
            <a:off x="9706754" y="3084640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class</a:t>
            </a:r>
          </a:p>
        </p:txBody>
      </p:sp>
      <p:sp>
        <p:nvSpPr>
          <p:cNvPr id="25" name="Cube 24"/>
          <p:cNvSpPr/>
          <p:nvPr/>
        </p:nvSpPr>
        <p:spPr>
          <a:xfrm>
            <a:off x="1281304" y="5367398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Feature S3</a:t>
            </a:r>
          </a:p>
        </p:txBody>
      </p:sp>
      <p:sp>
        <p:nvSpPr>
          <p:cNvPr id="26" name="Cube 25"/>
          <p:cNvSpPr/>
          <p:nvPr/>
        </p:nvSpPr>
        <p:spPr>
          <a:xfrm>
            <a:off x="3564062" y="5367398"/>
            <a:ext cx="1867710" cy="664074"/>
          </a:xfrm>
          <a:prstGeom prst="cube">
            <a:avLst/>
          </a:prstGeom>
          <a:solidFill>
            <a:srgbClr val="DAE8FC"/>
          </a:solidFill>
          <a:ln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Pred Conv</a:t>
            </a:r>
          </a:p>
        </p:txBody>
      </p:sp>
      <p:sp>
        <p:nvSpPr>
          <p:cNvPr id="27" name="Cube 26"/>
          <p:cNvSpPr/>
          <p:nvPr/>
        </p:nvSpPr>
        <p:spPr>
          <a:xfrm>
            <a:off x="6054342" y="5159874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bbox</a:t>
            </a:r>
          </a:p>
        </p:txBody>
      </p:sp>
      <p:sp>
        <p:nvSpPr>
          <p:cNvPr id="28" name="Cube 27"/>
          <p:cNvSpPr/>
          <p:nvPr/>
        </p:nvSpPr>
        <p:spPr>
          <a:xfrm>
            <a:off x="7880548" y="5159874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obj</a:t>
            </a:r>
          </a:p>
        </p:txBody>
      </p:sp>
      <p:sp>
        <p:nvSpPr>
          <p:cNvPr id="29" name="Cube 28"/>
          <p:cNvSpPr/>
          <p:nvPr/>
        </p:nvSpPr>
        <p:spPr>
          <a:xfrm>
            <a:off x="9706754" y="5159874"/>
            <a:ext cx="1203635" cy="498056"/>
          </a:xfrm>
          <a:prstGeom prst="cube">
            <a:avLst/>
          </a:prstGeom>
          <a:solidFill>
            <a:srgbClr val="FFF2CC"/>
          </a:solidFill>
          <a:ln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>
                <a:solidFill>
                  <a:srgbClr val="333333"/>
                </a:solidFill>
                <a:latin typeface="Arial"/>
              </a:rPr>
              <a:t>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